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147483639" r:id="rId2"/>
    <p:sldId id="261" r:id="rId3"/>
    <p:sldId id="286"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2DA1E0-A76B-465A-9DB0-C05B41D10152}" type="datetimeFigureOut">
              <a:rPr lang="en-SG" smtClean="0"/>
              <a:t>16/9/2026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AC34F9-9A97-47A8-B0F7-4EEAF1F5EEAB}" type="slidenum">
              <a:rPr lang="en-SG" smtClean="0"/>
              <a:t>‹#›</a:t>
            </a:fld>
            <a:endParaRPr lang="en-SG"/>
          </a:p>
        </p:txBody>
      </p:sp>
    </p:spTree>
    <p:extLst>
      <p:ext uri="{BB962C8B-B14F-4D97-AF65-F5344CB8AC3E}">
        <p14:creationId xmlns:p14="http://schemas.microsoft.com/office/powerpoint/2010/main" val="2853930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5556B-5D35-D099-90AB-F8D3754FC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A6319F-71BB-764A-97BD-7D4F885E796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FF6C53-185A-1CFE-8616-8A42A0E629F7}"/>
              </a:ext>
            </a:extLst>
          </p:cNvPr>
          <p:cNvSpPr>
            <a:spLocks noGrp="1"/>
          </p:cNvSpPr>
          <p:nvPr>
            <p:ph type="body" idx="1"/>
          </p:nvPr>
        </p:nvSpPr>
        <p:spPr/>
        <p:txBody>
          <a:bodyPr/>
          <a:lstStyle/>
          <a:p>
            <a:r>
              <a:rPr lang="en-SG"/>
              <a:t>* Ask about Education Credentials</a:t>
            </a:r>
          </a:p>
        </p:txBody>
      </p:sp>
      <p:sp>
        <p:nvSpPr>
          <p:cNvPr id="4" name="Slide Number Placeholder 3">
            <a:extLst>
              <a:ext uri="{FF2B5EF4-FFF2-40B4-BE49-F238E27FC236}">
                <a16:creationId xmlns:a16="http://schemas.microsoft.com/office/drawing/2014/main" id="{66420CAD-20F6-D060-C9CC-7FCA415F85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E3D326-314A-4388-8C16-B117BFD74A9A}"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81965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AD1C6-F3AB-389D-D0BF-FE1FBC3AB1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328A3D-6E81-2792-65D4-64BC0D6FEA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79FA78C-03AE-2C12-5597-F85F473D9E1D}"/>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C1097FDA-1896-CE26-72B3-837EC245B2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E3D326-314A-4388-8C16-B117BFD74A9A}"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01477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42328-2180-649B-710F-06B605E6A9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A58A0E-A0C5-8562-718B-D0143E1A9966}"/>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1A764474-E5CE-E743-0832-EF92503922CD}"/>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32CEC9F4-FC84-4CD7-8850-077B35FC42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E3D326-314A-4388-8C16-B117BFD74A9A}"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1217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Slide Frame 2">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A8D6BAB6-A68E-C404-5D92-6E11D325CFFA}"/>
              </a:ext>
            </a:extLst>
          </p:cNvPr>
          <p:cNvGrpSpPr/>
          <p:nvPr userDrawn="1"/>
        </p:nvGrpSpPr>
        <p:grpSpPr bwMode="black">
          <a:xfrm>
            <a:off x="10563226" y="5167683"/>
            <a:ext cx="1219200" cy="1284606"/>
            <a:chOff x="10563224" y="5158158"/>
            <a:chExt cx="1219200" cy="1284606"/>
          </a:xfrm>
        </p:grpSpPr>
        <p:sp>
          <p:nvSpPr>
            <p:cNvPr id="22" name="Freeform 21">
              <a:extLst>
                <a:ext uri="{FF2B5EF4-FFF2-40B4-BE49-F238E27FC236}">
                  <a16:creationId xmlns:a16="http://schemas.microsoft.com/office/drawing/2014/main" id="{BEE0067F-78DC-1ABA-D072-D13444B14ED9}"/>
                </a:ext>
              </a:extLst>
            </p:cNvPr>
            <p:cNvSpPr/>
            <p:nvPr/>
          </p:nvSpPr>
          <p:spPr bwMode="black">
            <a:xfrm>
              <a:off x="10826115" y="5158158"/>
              <a:ext cx="805814" cy="294004"/>
            </a:xfrm>
            <a:custGeom>
              <a:avLst/>
              <a:gdLst>
                <a:gd name="connsiteX0" fmla="*/ 805814 w 805814"/>
                <a:gd name="connsiteY0" fmla="*/ 0 h 294004"/>
                <a:gd name="connsiteX1" fmla="*/ 0 w 805814"/>
                <a:gd name="connsiteY1" fmla="*/ 294005 h 294004"/>
                <a:gd name="connsiteX2" fmla="*/ 805814 w 805814"/>
                <a:gd name="connsiteY2" fmla="*/ 151765 h 294004"/>
                <a:gd name="connsiteX3" fmla="*/ 805814 w 805814"/>
                <a:gd name="connsiteY3" fmla="*/ 0 h 294004"/>
              </a:gdLst>
              <a:ahLst/>
              <a:cxnLst>
                <a:cxn ang="0">
                  <a:pos x="connsiteX0" y="connsiteY0"/>
                </a:cxn>
                <a:cxn ang="0">
                  <a:pos x="connsiteX1" y="connsiteY1"/>
                </a:cxn>
                <a:cxn ang="0">
                  <a:pos x="connsiteX2" y="connsiteY2"/>
                </a:cxn>
                <a:cxn ang="0">
                  <a:pos x="connsiteX3" y="connsiteY3"/>
                </a:cxn>
              </a:cxnLst>
              <a:rect l="l" t="t" r="r" b="b"/>
              <a:pathLst>
                <a:path w="805814" h="294004">
                  <a:moveTo>
                    <a:pt x="805814" y="0"/>
                  </a:moveTo>
                  <a:lnTo>
                    <a:pt x="0" y="294005"/>
                  </a:lnTo>
                  <a:lnTo>
                    <a:pt x="805814" y="151765"/>
                  </a:lnTo>
                  <a:lnTo>
                    <a:pt x="805814" y="0"/>
                  </a:lnTo>
                  <a:close/>
                </a:path>
              </a:pathLst>
            </a:custGeom>
            <a:solidFill>
              <a:srgbClr val="FFE600"/>
            </a:solidFill>
            <a:ln w="63500" cap="flat">
              <a:noFill/>
              <a:prstDash val="solid"/>
              <a:miter/>
            </a:ln>
          </p:spPr>
          <p:txBody>
            <a:bodyPr rtlCol="0" anchor="ctr"/>
            <a:lstStyle/>
            <a:p>
              <a:endParaRPr lang="en-US" sz="1798"/>
            </a:p>
          </p:txBody>
        </p:sp>
        <p:sp>
          <p:nvSpPr>
            <p:cNvPr id="23" name="Freeform 22">
              <a:extLst>
                <a:ext uri="{FF2B5EF4-FFF2-40B4-BE49-F238E27FC236}">
                  <a16:creationId xmlns:a16="http://schemas.microsoft.com/office/drawing/2014/main" id="{51F51328-AAA1-9C6C-5EE4-05350DF6D22E}"/>
                </a:ext>
              </a:extLst>
            </p:cNvPr>
            <p:cNvSpPr/>
            <p:nvPr/>
          </p:nvSpPr>
          <p:spPr bwMode="black">
            <a:xfrm>
              <a:off x="10563224" y="5574083"/>
              <a:ext cx="1219200" cy="868681"/>
            </a:xfrm>
            <a:custGeom>
              <a:avLst/>
              <a:gdLst>
                <a:gd name="connsiteX0" fmla="*/ 245110 w 1219200"/>
                <a:gd name="connsiteY0" fmla="*/ 839471 h 868681"/>
                <a:gd name="connsiteX1" fmla="*/ 246379 w 1219200"/>
                <a:gd name="connsiteY1" fmla="*/ 839471 h 868681"/>
                <a:gd name="connsiteX2" fmla="*/ 245041 w 1219200"/>
                <a:gd name="connsiteY2" fmla="*/ 839979 h 868681"/>
                <a:gd name="connsiteX3" fmla="*/ 522605 w 1219200"/>
                <a:gd name="connsiteY3" fmla="*/ 796926 h 868681"/>
                <a:gd name="connsiteX4" fmla="*/ 504189 w 1219200"/>
                <a:gd name="connsiteY4" fmla="*/ 821691 h 868681"/>
                <a:gd name="connsiteX5" fmla="*/ 522605 w 1219200"/>
                <a:gd name="connsiteY5" fmla="*/ 845821 h 868681"/>
                <a:gd name="connsiteX6" fmla="*/ 541019 w 1219200"/>
                <a:gd name="connsiteY6" fmla="*/ 821691 h 868681"/>
                <a:gd name="connsiteX7" fmla="*/ 522605 w 1219200"/>
                <a:gd name="connsiteY7" fmla="*/ 796926 h 868681"/>
                <a:gd name="connsiteX8" fmla="*/ 817245 w 1219200"/>
                <a:gd name="connsiteY8" fmla="*/ 796291 h 868681"/>
                <a:gd name="connsiteX9" fmla="*/ 800735 w 1219200"/>
                <a:gd name="connsiteY9" fmla="*/ 819786 h 868681"/>
                <a:gd name="connsiteX10" fmla="*/ 817879 w 1219200"/>
                <a:gd name="connsiteY10" fmla="*/ 846456 h 868681"/>
                <a:gd name="connsiteX11" fmla="*/ 833754 w 1219200"/>
                <a:gd name="connsiteY11" fmla="*/ 838836 h 868681"/>
                <a:gd name="connsiteX12" fmla="*/ 833754 w 1219200"/>
                <a:gd name="connsiteY12" fmla="*/ 838201 h 868681"/>
                <a:gd name="connsiteX13" fmla="*/ 833754 w 1219200"/>
                <a:gd name="connsiteY13" fmla="*/ 803911 h 868681"/>
                <a:gd name="connsiteX14" fmla="*/ 817245 w 1219200"/>
                <a:gd name="connsiteY14" fmla="*/ 796291 h 868681"/>
                <a:gd name="connsiteX15" fmla="*/ 1179195 w 1219200"/>
                <a:gd name="connsiteY15" fmla="*/ 794386 h 868681"/>
                <a:gd name="connsiteX16" fmla="*/ 1163320 w 1219200"/>
                <a:gd name="connsiteY16" fmla="*/ 811531 h 868681"/>
                <a:gd name="connsiteX17" fmla="*/ 1163954 w 1219200"/>
                <a:gd name="connsiteY17" fmla="*/ 811531 h 868681"/>
                <a:gd name="connsiteX18" fmla="*/ 1195704 w 1219200"/>
                <a:gd name="connsiteY18" fmla="*/ 811531 h 868681"/>
                <a:gd name="connsiteX19" fmla="*/ 1179195 w 1219200"/>
                <a:gd name="connsiteY19" fmla="*/ 794386 h 868681"/>
                <a:gd name="connsiteX20" fmla="*/ 909320 w 1219200"/>
                <a:gd name="connsiteY20" fmla="*/ 794386 h 868681"/>
                <a:gd name="connsiteX21" fmla="*/ 893445 w 1219200"/>
                <a:gd name="connsiteY21" fmla="*/ 811531 h 868681"/>
                <a:gd name="connsiteX22" fmla="*/ 894079 w 1219200"/>
                <a:gd name="connsiteY22" fmla="*/ 811531 h 868681"/>
                <a:gd name="connsiteX23" fmla="*/ 925829 w 1219200"/>
                <a:gd name="connsiteY23" fmla="*/ 811531 h 868681"/>
                <a:gd name="connsiteX24" fmla="*/ 909320 w 1219200"/>
                <a:gd name="connsiteY24" fmla="*/ 794386 h 868681"/>
                <a:gd name="connsiteX25" fmla="*/ 737870 w 1219200"/>
                <a:gd name="connsiteY25" fmla="*/ 775971 h 868681"/>
                <a:gd name="connsiteX26" fmla="*/ 761364 w 1219200"/>
                <a:gd name="connsiteY26" fmla="*/ 775971 h 868681"/>
                <a:gd name="connsiteX27" fmla="*/ 761364 w 1219200"/>
                <a:gd name="connsiteY27" fmla="*/ 866141 h 868681"/>
                <a:gd name="connsiteX28" fmla="*/ 737870 w 1219200"/>
                <a:gd name="connsiteY28" fmla="*/ 866141 h 868681"/>
                <a:gd name="connsiteX29" fmla="*/ 143510 w 1219200"/>
                <a:gd name="connsiteY29" fmla="*/ 775971 h 868681"/>
                <a:gd name="connsiteX30" fmla="*/ 167004 w 1219200"/>
                <a:gd name="connsiteY30" fmla="*/ 775971 h 868681"/>
                <a:gd name="connsiteX31" fmla="*/ 167004 w 1219200"/>
                <a:gd name="connsiteY31" fmla="*/ 866141 h 868681"/>
                <a:gd name="connsiteX32" fmla="*/ 143510 w 1219200"/>
                <a:gd name="connsiteY32" fmla="*/ 866141 h 868681"/>
                <a:gd name="connsiteX33" fmla="*/ 635 w 1219200"/>
                <a:gd name="connsiteY33" fmla="*/ 775971 h 868681"/>
                <a:gd name="connsiteX34" fmla="*/ 26670 w 1219200"/>
                <a:gd name="connsiteY34" fmla="*/ 775971 h 868681"/>
                <a:gd name="connsiteX35" fmla="*/ 40004 w 1219200"/>
                <a:gd name="connsiteY35" fmla="*/ 828041 h 868681"/>
                <a:gd name="connsiteX36" fmla="*/ 55245 w 1219200"/>
                <a:gd name="connsiteY36" fmla="*/ 775971 h 868681"/>
                <a:gd name="connsiteX37" fmla="*/ 76200 w 1219200"/>
                <a:gd name="connsiteY37" fmla="*/ 775971 h 868681"/>
                <a:gd name="connsiteX38" fmla="*/ 91439 w 1219200"/>
                <a:gd name="connsiteY38" fmla="*/ 828041 h 868681"/>
                <a:gd name="connsiteX39" fmla="*/ 105409 w 1219200"/>
                <a:gd name="connsiteY39" fmla="*/ 775971 h 868681"/>
                <a:gd name="connsiteX40" fmla="*/ 130810 w 1219200"/>
                <a:gd name="connsiteY40" fmla="*/ 775971 h 868681"/>
                <a:gd name="connsiteX41" fmla="*/ 102235 w 1219200"/>
                <a:gd name="connsiteY41" fmla="*/ 866141 h 868681"/>
                <a:gd name="connsiteX42" fmla="*/ 80644 w 1219200"/>
                <a:gd name="connsiteY42" fmla="*/ 866141 h 868681"/>
                <a:gd name="connsiteX43" fmla="*/ 65405 w 1219200"/>
                <a:gd name="connsiteY43" fmla="*/ 811531 h 868681"/>
                <a:gd name="connsiteX44" fmla="*/ 50165 w 1219200"/>
                <a:gd name="connsiteY44" fmla="*/ 866141 h 868681"/>
                <a:gd name="connsiteX45" fmla="*/ 28575 w 1219200"/>
                <a:gd name="connsiteY45" fmla="*/ 866141 h 868681"/>
                <a:gd name="connsiteX46" fmla="*/ 1181099 w 1219200"/>
                <a:gd name="connsiteY46" fmla="*/ 774066 h 868681"/>
                <a:gd name="connsiteX47" fmla="*/ 1219200 w 1219200"/>
                <a:gd name="connsiteY47" fmla="*/ 821056 h 868681"/>
                <a:gd name="connsiteX48" fmla="*/ 1218564 w 1219200"/>
                <a:gd name="connsiteY48" fmla="*/ 821056 h 868681"/>
                <a:gd name="connsiteX49" fmla="*/ 1218564 w 1219200"/>
                <a:gd name="connsiteY49" fmla="*/ 828676 h 868681"/>
                <a:gd name="connsiteX50" fmla="*/ 1163954 w 1219200"/>
                <a:gd name="connsiteY50" fmla="*/ 828676 h 868681"/>
                <a:gd name="connsiteX51" fmla="*/ 1183004 w 1219200"/>
                <a:gd name="connsiteY51" fmla="*/ 846456 h 868681"/>
                <a:gd name="connsiteX52" fmla="*/ 1198879 w 1219200"/>
                <a:gd name="connsiteY52" fmla="*/ 840106 h 868681"/>
                <a:gd name="connsiteX53" fmla="*/ 1214754 w 1219200"/>
                <a:gd name="connsiteY53" fmla="*/ 853441 h 868681"/>
                <a:gd name="connsiteX54" fmla="*/ 1182370 w 1219200"/>
                <a:gd name="connsiteY54" fmla="*/ 868046 h 868681"/>
                <a:gd name="connsiteX55" fmla="*/ 1141095 w 1219200"/>
                <a:gd name="connsiteY55" fmla="*/ 821056 h 868681"/>
                <a:gd name="connsiteX56" fmla="*/ 1181099 w 1219200"/>
                <a:gd name="connsiteY56" fmla="*/ 774066 h 868681"/>
                <a:gd name="connsiteX57" fmla="*/ 1097915 w 1219200"/>
                <a:gd name="connsiteY57" fmla="*/ 774066 h 868681"/>
                <a:gd name="connsiteX58" fmla="*/ 1133474 w 1219200"/>
                <a:gd name="connsiteY58" fmla="*/ 793751 h 868681"/>
                <a:gd name="connsiteX59" fmla="*/ 1118235 w 1219200"/>
                <a:gd name="connsiteY59" fmla="*/ 808991 h 868681"/>
                <a:gd name="connsiteX60" fmla="*/ 1097915 w 1219200"/>
                <a:gd name="connsiteY60" fmla="*/ 796291 h 868681"/>
                <a:gd name="connsiteX61" fmla="*/ 1078864 w 1219200"/>
                <a:gd name="connsiteY61" fmla="*/ 820421 h 868681"/>
                <a:gd name="connsiteX62" fmla="*/ 1097915 w 1219200"/>
                <a:gd name="connsiteY62" fmla="*/ 845186 h 868681"/>
                <a:gd name="connsiteX63" fmla="*/ 1118235 w 1219200"/>
                <a:gd name="connsiteY63" fmla="*/ 833756 h 868681"/>
                <a:gd name="connsiteX64" fmla="*/ 1118870 w 1219200"/>
                <a:gd name="connsiteY64" fmla="*/ 834391 h 868681"/>
                <a:gd name="connsiteX65" fmla="*/ 1133474 w 1219200"/>
                <a:gd name="connsiteY65" fmla="*/ 848361 h 868681"/>
                <a:gd name="connsiteX66" fmla="*/ 1097280 w 1219200"/>
                <a:gd name="connsiteY66" fmla="*/ 868046 h 868681"/>
                <a:gd name="connsiteX67" fmla="*/ 1054735 w 1219200"/>
                <a:gd name="connsiteY67" fmla="*/ 821056 h 868681"/>
                <a:gd name="connsiteX68" fmla="*/ 1097915 w 1219200"/>
                <a:gd name="connsiteY68" fmla="*/ 774066 h 868681"/>
                <a:gd name="connsiteX69" fmla="*/ 1009015 w 1219200"/>
                <a:gd name="connsiteY69" fmla="*/ 774066 h 868681"/>
                <a:gd name="connsiteX70" fmla="*/ 1041400 w 1219200"/>
                <a:gd name="connsiteY70" fmla="*/ 815341 h 868681"/>
                <a:gd name="connsiteX71" fmla="*/ 1041400 w 1219200"/>
                <a:gd name="connsiteY71" fmla="*/ 866141 h 868681"/>
                <a:gd name="connsiteX72" fmla="*/ 1017905 w 1219200"/>
                <a:gd name="connsiteY72" fmla="*/ 866141 h 868681"/>
                <a:gd name="connsiteX73" fmla="*/ 1017905 w 1219200"/>
                <a:gd name="connsiteY73" fmla="*/ 817246 h 868681"/>
                <a:gd name="connsiteX74" fmla="*/ 1002665 w 1219200"/>
                <a:gd name="connsiteY74" fmla="*/ 796291 h 868681"/>
                <a:gd name="connsiteX75" fmla="*/ 986790 w 1219200"/>
                <a:gd name="connsiteY75" fmla="*/ 816611 h 868681"/>
                <a:gd name="connsiteX76" fmla="*/ 986790 w 1219200"/>
                <a:gd name="connsiteY76" fmla="*/ 866141 h 868681"/>
                <a:gd name="connsiteX77" fmla="*/ 963295 w 1219200"/>
                <a:gd name="connsiteY77" fmla="*/ 866141 h 868681"/>
                <a:gd name="connsiteX78" fmla="*/ 963295 w 1219200"/>
                <a:gd name="connsiteY78" fmla="*/ 775971 h 868681"/>
                <a:gd name="connsiteX79" fmla="*/ 986790 w 1219200"/>
                <a:gd name="connsiteY79" fmla="*/ 775971 h 868681"/>
                <a:gd name="connsiteX80" fmla="*/ 986790 w 1219200"/>
                <a:gd name="connsiteY80" fmla="*/ 782321 h 868681"/>
                <a:gd name="connsiteX81" fmla="*/ 1009015 w 1219200"/>
                <a:gd name="connsiteY81" fmla="*/ 774066 h 868681"/>
                <a:gd name="connsiteX82" fmla="*/ 911224 w 1219200"/>
                <a:gd name="connsiteY82" fmla="*/ 774066 h 868681"/>
                <a:gd name="connsiteX83" fmla="*/ 949325 w 1219200"/>
                <a:gd name="connsiteY83" fmla="*/ 821056 h 868681"/>
                <a:gd name="connsiteX84" fmla="*/ 948689 w 1219200"/>
                <a:gd name="connsiteY84" fmla="*/ 821056 h 868681"/>
                <a:gd name="connsiteX85" fmla="*/ 948689 w 1219200"/>
                <a:gd name="connsiteY85" fmla="*/ 828676 h 868681"/>
                <a:gd name="connsiteX86" fmla="*/ 894079 w 1219200"/>
                <a:gd name="connsiteY86" fmla="*/ 828676 h 868681"/>
                <a:gd name="connsiteX87" fmla="*/ 913129 w 1219200"/>
                <a:gd name="connsiteY87" fmla="*/ 846456 h 868681"/>
                <a:gd name="connsiteX88" fmla="*/ 929004 w 1219200"/>
                <a:gd name="connsiteY88" fmla="*/ 840106 h 868681"/>
                <a:gd name="connsiteX89" fmla="*/ 944879 w 1219200"/>
                <a:gd name="connsiteY89" fmla="*/ 853441 h 868681"/>
                <a:gd name="connsiteX90" fmla="*/ 912495 w 1219200"/>
                <a:gd name="connsiteY90" fmla="*/ 868046 h 868681"/>
                <a:gd name="connsiteX91" fmla="*/ 871220 w 1219200"/>
                <a:gd name="connsiteY91" fmla="*/ 821056 h 868681"/>
                <a:gd name="connsiteX92" fmla="*/ 911224 w 1219200"/>
                <a:gd name="connsiteY92" fmla="*/ 774066 h 868681"/>
                <a:gd name="connsiteX93" fmla="*/ 623570 w 1219200"/>
                <a:gd name="connsiteY93" fmla="*/ 774066 h 868681"/>
                <a:gd name="connsiteX94" fmla="*/ 655954 w 1219200"/>
                <a:gd name="connsiteY94" fmla="*/ 815341 h 868681"/>
                <a:gd name="connsiteX95" fmla="*/ 655954 w 1219200"/>
                <a:gd name="connsiteY95" fmla="*/ 866141 h 868681"/>
                <a:gd name="connsiteX96" fmla="*/ 632459 w 1219200"/>
                <a:gd name="connsiteY96" fmla="*/ 866141 h 868681"/>
                <a:gd name="connsiteX97" fmla="*/ 632459 w 1219200"/>
                <a:gd name="connsiteY97" fmla="*/ 817246 h 868681"/>
                <a:gd name="connsiteX98" fmla="*/ 617220 w 1219200"/>
                <a:gd name="connsiteY98" fmla="*/ 796291 h 868681"/>
                <a:gd name="connsiteX99" fmla="*/ 601345 w 1219200"/>
                <a:gd name="connsiteY99" fmla="*/ 816611 h 868681"/>
                <a:gd name="connsiteX100" fmla="*/ 601345 w 1219200"/>
                <a:gd name="connsiteY100" fmla="*/ 866141 h 868681"/>
                <a:gd name="connsiteX101" fmla="*/ 577849 w 1219200"/>
                <a:gd name="connsiteY101" fmla="*/ 866141 h 868681"/>
                <a:gd name="connsiteX102" fmla="*/ 577849 w 1219200"/>
                <a:gd name="connsiteY102" fmla="*/ 775971 h 868681"/>
                <a:gd name="connsiteX103" fmla="*/ 601345 w 1219200"/>
                <a:gd name="connsiteY103" fmla="*/ 775971 h 868681"/>
                <a:gd name="connsiteX104" fmla="*/ 601345 w 1219200"/>
                <a:gd name="connsiteY104" fmla="*/ 782321 h 868681"/>
                <a:gd name="connsiteX105" fmla="*/ 623570 w 1219200"/>
                <a:gd name="connsiteY105" fmla="*/ 774066 h 868681"/>
                <a:gd name="connsiteX106" fmla="*/ 522605 w 1219200"/>
                <a:gd name="connsiteY106" fmla="*/ 774066 h 868681"/>
                <a:gd name="connsiteX107" fmla="*/ 564515 w 1219200"/>
                <a:gd name="connsiteY107" fmla="*/ 821056 h 868681"/>
                <a:gd name="connsiteX108" fmla="*/ 522605 w 1219200"/>
                <a:gd name="connsiteY108" fmla="*/ 868046 h 868681"/>
                <a:gd name="connsiteX109" fmla="*/ 480695 w 1219200"/>
                <a:gd name="connsiteY109" fmla="*/ 821056 h 868681"/>
                <a:gd name="connsiteX110" fmla="*/ 522605 w 1219200"/>
                <a:gd name="connsiteY110" fmla="*/ 774066 h 868681"/>
                <a:gd name="connsiteX111" fmla="*/ 436879 w 1219200"/>
                <a:gd name="connsiteY111" fmla="*/ 774066 h 868681"/>
                <a:gd name="connsiteX112" fmla="*/ 472439 w 1219200"/>
                <a:gd name="connsiteY112" fmla="*/ 793751 h 868681"/>
                <a:gd name="connsiteX113" fmla="*/ 457200 w 1219200"/>
                <a:gd name="connsiteY113" fmla="*/ 808991 h 868681"/>
                <a:gd name="connsiteX114" fmla="*/ 436879 w 1219200"/>
                <a:gd name="connsiteY114" fmla="*/ 796291 h 868681"/>
                <a:gd name="connsiteX115" fmla="*/ 417829 w 1219200"/>
                <a:gd name="connsiteY115" fmla="*/ 820421 h 868681"/>
                <a:gd name="connsiteX116" fmla="*/ 436879 w 1219200"/>
                <a:gd name="connsiteY116" fmla="*/ 845186 h 868681"/>
                <a:gd name="connsiteX117" fmla="*/ 457200 w 1219200"/>
                <a:gd name="connsiteY117" fmla="*/ 833756 h 868681"/>
                <a:gd name="connsiteX118" fmla="*/ 457834 w 1219200"/>
                <a:gd name="connsiteY118" fmla="*/ 834391 h 868681"/>
                <a:gd name="connsiteX119" fmla="*/ 472439 w 1219200"/>
                <a:gd name="connsiteY119" fmla="*/ 848361 h 868681"/>
                <a:gd name="connsiteX120" fmla="*/ 436245 w 1219200"/>
                <a:gd name="connsiteY120" fmla="*/ 868046 h 868681"/>
                <a:gd name="connsiteX121" fmla="*/ 393700 w 1219200"/>
                <a:gd name="connsiteY121" fmla="*/ 821056 h 868681"/>
                <a:gd name="connsiteX122" fmla="*/ 436879 w 1219200"/>
                <a:gd name="connsiteY122" fmla="*/ 774066 h 868681"/>
                <a:gd name="connsiteX123" fmla="*/ 219075 w 1219200"/>
                <a:gd name="connsiteY123" fmla="*/ 742316 h 868681"/>
                <a:gd name="connsiteX124" fmla="*/ 219075 w 1219200"/>
                <a:gd name="connsiteY124" fmla="*/ 777241 h 868681"/>
                <a:gd name="connsiteX125" fmla="*/ 245110 w 1219200"/>
                <a:gd name="connsiteY125" fmla="*/ 777241 h 868681"/>
                <a:gd name="connsiteX126" fmla="*/ 245110 w 1219200"/>
                <a:gd name="connsiteY126" fmla="*/ 798831 h 868681"/>
                <a:gd name="connsiteX127" fmla="*/ 219075 w 1219200"/>
                <a:gd name="connsiteY127" fmla="*/ 798831 h 868681"/>
                <a:gd name="connsiteX128" fmla="*/ 219075 w 1219200"/>
                <a:gd name="connsiteY128" fmla="*/ 835661 h 868681"/>
                <a:gd name="connsiteX129" fmla="*/ 227965 w 1219200"/>
                <a:gd name="connsiteY129" fmla="*/ 846456 h 868681"/>
                <a:gd name="connsiteX130" fmla="*/ 245041 w 1219200"/>
                <a:gd name="connsiteY130" fmla="*/ 839979 h 868681"/>
                <a:gd name="connsiteX131" fmla="*/ 241935 w 1219200"/>
                <a:gd name="connsiteY131" fmla="*/ 862966 h 868681"/>
                <a:gd name="connsiteX132" fmla="*/ 219709 w 1219200"/>
                <a:gd name="connsiteY132" fmla="*/ 868681 h 868681"/>
                <a:gd name="connsiteX133" fmla="*/ 195579 w 1219200"/>
                <a:gd name="connsiteY133" fmla="*/ 842011 h 868681"/>
                <a:gd name="connsiteX134" fmla="*/ 195579 w 1219200"/>
                <a:gd name="connsiteY134" fmla="*/ 798831 h 868681"/>
                <a:gd name="connsiteX135" fmla="*/ 179704 w 1219200"/>
                <a:gd name="connsiteY135" fmla="*/ 798831 h 868681"/>
                <a:gd name="connsiteX136" fmla="*/ 179704 w 1219200"/>
                <a:gd name="connsiteY136" fmla="*/ 777241 h 868681"/>
                <a:gd name="connsiteX137" fmla="*/ 195579 w 1219200"/>
                <a:gd name="connsiteY137" fmla="*/ 777241 h 868681"/>
                <a:gd name="connsiteX138" fmla="*/ 195579 w 1219200"/>
                <a:gd name="connsiteY138" fmla="*/ 753746 h 868681"/>
                <a:gd name="connsiteX139" fmla="*/ 749935 w 1219200"/>
                <a:gd name="connsiteY139" fmla="*/ 741681 h 868681"/>
                <a:gd name="connsiteX140" fmla="*/ 763269 w 1219200"/>
                <a:gd name="connsiteY140" fmla="*/ 755016 h 868681"/>
                <a:gd name="connsiteX141" fmla="*/ 749935 w 1219200"/>
                <a:gd name="connsiteY141" fmla="*/ 768351 h 868681"/>
                <a:gd name="connsiteX142" fmla="*/ 736599 w 1219200"/>
                <a:gd name="connsiteY142" fmla="*/ 755016 h 868681"/>
                <a:gd name="connsiteX143" fmla="*/ 749935 w 1219200"/>
                <a:gd name="connsiteY143" fmla="*/ 741681 h 868681"/>
                <a:gd name="connsiteX144" fmla="*/ 154939 w 1219200"/>
                <a:gd name="connsiteY144" fmla="*/ 741681 h 868681"/>
                <a:gd name="connsiteX145" fmla="*/ 168275 w 1219200"/>
                <a:gd name="connsiteY145" fmla="*/ 755016 h 868681"/>
                <a:gd name="connsiteX146" fmla="*/ 154939 w 1219200"/>
                <a:gd name="connsiteY146" fmla="*/ 768351 h 868681"/>
                <a:gd name="connsiteX147" fmla="*/ 141605 w 1219200"/>
                <a:gd name="connsiteY147" fmla="*/ 755016 h 868681"/>
                <a:gd name="connsiteX148" fmla="*/ 154939 w 1219200"/>
                <a:gd name="connsiteY148" fmla="*/ 741681 h 868681"/>
                <a:gd name="connsiteX149" fmla="*/ 856614 w 1219200"/>
                <a:gd name="connsiteY149" fmla="*/ 741046 h 868681"/>
                <a:gd name="connsiteX150" fmla="*/ 856614 w 1219200"/>
                <a:gd name="connsiteY150" fmla="*/ 866141 h 868681"/>
                <a:gd name="connsiteX151" fmla="*/ 833120 w 1219200"/>
                <a:gd name="connsiteY151" fmla="*/ 866141 h 868681"/>
                <a:gd name="connsiteX152" fmla="*/ 833120 w 1219200"/>
                <a:gd name="connsiteY152" fmla="*/ 860426 h 868681"/>
                <a:gd name="connsiteX153" fmla="*/ 812799 w 1219200"/>
                <a:gd name="connsiteY153" fmla="*/ 868046 h 868681"/>
                <a:gd name="connsiteX154" fmla="*/ 775970 w 1219200"/>
                <a:gd name="connsiteY154" fmla="*/ 820421 h 868681"/>
                <a:gd name="connsiteX155" fmla="*/ 812165 w 1219200"/>
                <a:gd name="connsiteY155" fmla="*/ 774066 h 868681"/>
                <a:gd name="connsiteX156" fmla="*/ 833120 w 1219200"/>
                <a:gd name="connsiteY156" fmla="*/ 781051 h 868681"/>
                <a:gd name="connsiteX157" fmla="*/ 833120 w 1219200"/>
                <a:gd name="connsiteY157" fmla="*/ 752476 h 868681"/>
                <a:gd name="connsiteX158" fmla="*/ 707390 w 1219200"/>
                <a:gd name="connsiteY158" fmla="*/ 741046 h 868681"/>
                <a:gd name="connsiteX159" fmla="*/ 724534 w 1219200"/>
                <a:gd name="connsiteY159" fmla="*/ 743586 h 868681"/>
                <a:gd name="connsiteX160" fmla="*/ 724534 w 1219200"/>
                <a:gd name="connsiteY160" fmla="*/ 744221 h 868681"/>
                <a:gd name="connsiteX161" fmla="*/ 724534 w 1219200"/>
                <a:gd name="connsiteY161" fmla="*/ 762636 h 868681"/>
                <a:gd name="connsiteX162" fmla="*/ 713105 w 1219200"/>
                <a:gd name="connsiteY162" fmla="*/ 760731 h 868681"/>
                <a:gd name="connsiteX163" fmla="*/ 703579 w 1219200"/>
                <a:gd name="connsiteY163" fmla="*/ 768351 h 868681"/>
                <a:gd name="connsiteX164" fmla="*/ 703579 w 1219200"/>
                <a:gd name="connsiteY164" fmla="*/ 775336 h 868681"/>
                <a:gd name="connsiteX165" fmla="*/ 722629 w 1219200"/>
                <a:gd name="connsiteY165" fmla="*/ 775336 h 868681"/>
                <a:gd name="connsiteX166" fmla="*/ 722629 w 1219200"/>
                <a:gd name="connsiteY166" fmla="*/ 796926 h 868681"/>
                <a:gd name="connsiteX167" fmla="*/ 703579 w 1219200"/>
                <a:gd name="connsiteY167" fmla="*/ 796926 h 868681"/>
                <a:gd name="connsiteX168" fmla="*/ 703579 w 1219200"/>
                <a:gd name="connsiteY168" fmla="*/ 865506 h 868681"/>
                <a:gd name="connsiteX169" fmla="*/ 680084 w 1219200"/>
                <a:gd name="connsiteY169" fmla="*/ 865506 h 868681"/>
                <a:gd name="connsiteX170" fmla="*/ 680084 w 1219200"/>
                <a:gd name="connsiteY170" fmla="*/ 796926 h 868681"/>
                <a:gd name="connsiteX171" fmla="*/ 667385 w 1219200"/>
                <a:gd name="connsiteY171" fmla="*/ 796926 h 868681"/>
                <a:gd name="connsiteX172" fmla="*/ 667385 w 1219200"/>
                <a:gd name="connsiteY172" fmla="*/ 775336 h 868681"/>
                <a:gd name="connsiteX173" fmla="*/ 680084 w 1219200"/>
                <a:gd name="connsiteY173" fmla="*/ 775336 h 868681"/>
                <a:gd name="connsiteX174" fmla="*/ 680084 w 1219200"/>
                <a:gd name="connsiteY174" fmla="*/ 764541 h 868681"/>
                <a:gd name="connsiteX175" fmla="*/ 707390 w 1219200"/>
                <a:gd name="connsiteY175" fmla="*/ 741046 h 868681"/>
                <a:gd name="connsiteX176" fmla="*/ 282575 w 1219200"/>
                <a:gd name="connsiteY176" fmla="*/ 741046 h 868681"/>
                <a:gd name="connsiteX177" fmla="*/ 282575 w 1219200"/>
                <a:gd name="connsiteY177" fmla="*/ 782321 h 868681"/>
                <a:gd name="connsiteX178" fmla="*/ 304799 w 1219200"/>
                <a:gd name="connsiteY178" fmla="*/ 774066 h 868681"/>
                <a:gd name="connsiteX179" fmla="*/ 336549 w 1219200"/>
                <a:gd name="connsiteY179" fmla="*/ 815341 h 868681"/>
                <a:gd name="connsiteX180" fmla="*/ 336549 w 1219200"/>
                <a:gd name="connsiteY180" fmla="*/ 866141 h 868681"/>
                <a:gd name="connsiteX181" fmla="*/ 313689 w 1219200"/>
                <a:gd name="connsiteY181" fmla="*/ 866141 h 868681"/>
                <a:gd name="connsiteX182" fmla="*/ 313689 w 1219200"/>
                <a:gd name="connsiteY182" fmla="*/ 817246 h 868681"/>
                <a:gd name="connsiteX183" fmla="*/ 298450 w 1219200"/>
                <a:gd name="connsiteY183" fmla="*/ 796291 h 868681"/>
                <a:gd name="connsiteX184" fmla="*/ 282575 w 1219200"/>
                <a:gd name="connsiteY184" fmla="*/ 816611 h 868681"/>
                <a:gd name="connsiteX185" fmla="*/ 282575 w 1219200"/>
                <a:gd name="connsiteY185" fmla="*/ 866141 h 868681"/>
                <a:gd name="connsiteX186" fmla="*/ 259079 w 1219200"/>
                <a:gd name="connsiteY186" fmla="*/ 866141 h 868681"/>
                <a:gd name="connsiteX187" fmla="*/ 259079 w 1219200"/>
                <a:gd name="connsiteY187" fmla="*/ 752476 h 868681"/>
                <a:gd name="connsiteX188" fmla="*/ 92709 w 1219200"/>
                <a:gd name="connsiteY188" fmla="*/ 648336 h 868681"/>
                <a:gd name="connsiteX189" fmla="*/ 92709 w 1219200"/>
                <a:gd name="connsiteY189" fmla="*/ 649606 h 868681"/>
                <a:gd name="connsiteX190" fmla="*/ 92427 w 1219200"/>
                <a:gd name="connsiteY190" fmla="*/ 648959 h 868681"/>
                <a:gd name="connsiteX191" fmla="*/ 230504 w 1219200"/>
                <a:gd name="connsiteY191" fmla="*/ 643256 h 868681"/>
                <a:gd name="connsiteX192" fmla="*/ 215900 w 1219200"/>
                <a:gd name="connsiteY192" fmla="*/ 654686 h 868681"/>
                <a:gd name="connsiteX193" fmla="*/ 228599 w 1219200"/>
                <a:gd name="connsiteY193" fmla="*/ 667386 h 868681"/>
                <a:gd name="connsiteX194" fmla="*/ 245745 w 1219200"/>
                <a:gd name="connsiteY194" fmla="*/ 658496 h 868681"/>
                <a:gd name="connsiteX195" fmla="*/ 245745 w 1219200"/>
                <a:gd name="connsiteY195" fmla="*/ 647066 h 868681"/>
                <a:gd name="connsiteX196" fmla="*/ 230504 w 1219200"/>
                <a:gd name="connsiteY196" fmla="*/ 643256 h 868681"/>
                <a:gd name="connsiteX197" fmla="*/ 321310 w 1219200"/>
                <a:gd name="connsiteY197" fmla="*/ 614046 h 868681"/>
                <a:gd name="connsiteX198" fmla="*/ 306704 w 1219200"/>
                <a:gd name="connsiteY198" fmla="*/ 622301 h 868681"/>
                <a:gd name="connsiteX199" fmla="*/ 306704 w 1219200"/>
                <a:gd name="connsiteY199" fmla="*/ 656591 h 868681"/>
                <a:gd name="connsiteX200" fmla="*/ 323215 w 1219200"/>
                <a:gd name="connsiteY200" fmla="*/ 664846 h 868681"/>
                <a:gd name="connsiteX201" fmla="*/ 339090 w 1219200"/>
                <a:gd name="connsiteY201" fmla="*/ 640716 h 868681"/>
                <a:gd name="connsiteX202" fmla="*/ 338454 w 1219200"/>
                <a:gd name="connsiteY202" fmla="*/ 640716 h 868681"/>
                <a:gd name="connsiteX203" fmla="*/ 321310 w 1219200"/>
                <a:gd name="connsiteY203" fmla="*/ 614046 h 868681"/>
                <a:gd name="connsiteX204" fmla="*/ 1179195 w 1219200"/>
                <a:gd name="connsiteY204" fmla="*/ 612776 h 868681"/>
                <a:gd name="connsiteX205" fmla="*/ 1163320 w 1219200"/>
                <a:gd name="connsiteY205" fmla="*/ 629921 h 868681"/>
                <a:gd name="connsiteX206" fmla="*/ 1163954 w 1219200"/>
                <a:gd name="connsiteY206" fmla="*/ 629921 h 868681"/>
                <a:gd name="connsiteX207" fmla="*/ 1195704 w 1219200"/>
                <a:gd name="connsiteY207" fmla="*/ 629921 h 868681"/>
                <a:gd name="connsiteX208" fmla="*/ 1179195 w 1219200"/>
                <a:gd name="connsiteY208" fmla="*/ 612776 h 868681"/>
                <a:gd name="connsiteX209" fmla="*/ 689610 w 1219200"/>
                <a:gd name="connsiteY209" fmla="*/ 612776 h 868681"/>
                <a:gd name="connsiteX210" fmla="*/ 673735 w 1219200"/>
                <a:gd name="connsiteY210" fmla="*/ 629921 h 868681"/>
                <a:gd name="connsiteX211" fmla="*/ 674370 w 1219200"/>
                <a:gd name="connsiteY211" fmla="*/ 629921 h 868681"/>
                <a:gd name="connsiteX212" fmla="*/ 706120 w 1219200"/>
                <a:gd name="connsiteY212" fmla="*/ 629921 h 868681"/>
                <a:gd name="connsiteX213" fmla="*/ 689610 w 1219200"/>
                <a:gd name="connsiteY213" fmla="*/ 612776 h 868681"/>
                <a:gd name="connsiteX214" fmla="*/ 410845 w 1219200"/>
                <a:gd name="connsiteY214" fmla="*/ 612776 h 868681"/>
                <a:gd name="connsiteX215" fmla="*/ 395605 w 1219200"/>
                <a:gd name="connsiteY215" fmla="*/ 629921 h 868681"/>
                <a:gd name="connsiteX216" fmla="*/ 427355 w 1219200"/>
                <a:gd name="connsiteY216" fmla="*/ 629921 h 868681"/>
                <a:gd name="connsiteX217" fmla="*/ 410845 w 1219200"/>
                <a:gd name="connsiteY217" fmla="*/ 612776 h 868681"/>
                <a:gd name="connsiteX218" fmla="*/ 991870 w 1219200"/>
                <a:gd name="connsiteY218" fmla="*/ 594361 h 868681"/>
                <a:gd name="connsiteX219" fmla="*/ 1014095 w 1219200"/>
                <a:gd name="connsiteY219" fmla="*/ 594361 h 868681"/>
                <a:gd name="connsiteX220" fmla="*/ 1014095 w 1219200"/>
                <a:gd name="connsiteY220" fmla="*/ 643256 h 868681"/>
                <a:gd name="connsiteX221" fmla="*/ 1029334 w 1219200"/>
                <a:gd name="connsiteY221" fmla="*/ 664846 h 868681"/>
                <a:gd name="connsiteX222" fmla="*/ 1044575 w 1219200"/>
                <a:gd name="connsiteY222" fmla="*/ 644526 h 868681"/>
                <a:gd name="connsiteX223" fmla="*/ 1044575 w 1219200"/>
                <a:gd name="connsiteY223" fmla="*/ 594996 h 868681"/>
                <a:gd name="connsiteX224" fmla="*/ 1066799 w 1219200"/>
                <a:gd name="connsiteY224" fmla="*/ 594996 h 868681"/>
                <a:gd name="connsiteX225" fmla="*/ 1066799 w 1219200"/>
                <a:gd name="connsiteY225" fmla="*/ 684531 h 868681"/>
                <a:gd name="connsiteX226" fmla="*/ 1044575 w 1219200"/>
                <a:gd name="connsiteY226" fmla="*/ 684531 h 868681"/>
                <a:gd name="connsiteX227" fmla="*/ 1044575 w 1219200"/>
                <a:gd name="connsiteY227" fmla="*/ 678181 h 868681"/>
                <a:gd name="connsiteX228" fmla="*/ 1023620 w 1219200"/>
                <a:gd name="connsiteY228" fmla="*/ 686436 h 868681"/>
                <a:gd name="connsiteX229" fmla="*/ 991870 w 1219200"/>
                <a:gd name="connsiteY229" fmla="*/ 645161 h 868681"/>
                <a:gd name="connsiteX230" fmla="*/ 836295 w 1219200"/>
                <a:gd name="connsiteY230" fmla="*/ 594361 h 868681"/>
                <a:gd name="connsiteX231" fmla="*/ 858519 w 1219200"/>
                <a:gd name="connsiteY231" fmla="*/ 594361 h 868681"/>
                <a:gd name="connsiteX232" fmla="*/ 858519 w 1219200"/>
                <a:gd name="connsiteY232" fmla="*/ 643256 h 868681"/>
                <a:gd name="connsiteX233" fmla="*/ 873760 w 1219200"/>
                <a:gd name="connsiteY233" fmla="*/ 664846 h 868681"/>
                <a:gd name="connsiteX234" fmla="*/ 889000 w 1219200"/>
                <a:gd name="connsiteY234" fmla="*/ 644526 h 868681"/>
                <a:gd name="connsiteX235" fmla="*/ 889000 w 1219200"/>
                <a:gd name="connsiteY235" fmla="*/ 594996 h 868681"/>
                <a:gd name="connsiteX236" fmla="*/ 911224 w 1219200"/>
                <a:gd name="connsiteY236" fmla="*/ 594996 h 868681"/>
                <a:gd name="connsiteX237" fmla="*/ 911224 w 1219200"/>
                <a:gd name="connsiteY237" fmla="*/ 684531 h 868681"/>
                <a:gd name="connsiteX238" fmla="*/ 889000 w 1219200"/>
                <a:gd name="connsiteY238" fmla="*/ 684531 h 868681"/>
                <a:gd name="connsiteX239" fmla="*/ 889000 w 1219200"/>
                <a:gd name="connsiteY239" fmla="*/ 678181 h 868681"/>
                <a:gd name="connsiteX240" fmla="*/ 868045 w 1219200"/>
                <a:gd name="connsiteY240" fmla="*/ 686436 h 868681"/>
                <a:gd name="connsiteX241" fmla="*/ 836295 w 1219200"/>
                <a:gd name="connsiteY241" fmla="*/ 645161 h 868681"/>
                <a:gd name="connsiteX242" fmla="*/ 1181099 w 1219200"/>
                <a:gd name="connsiteY242" fmla="*/ 592456 h 868681"/>
                <a:gd name="connsiteX243" fmla="*/ 1219200 w 1219200"/>
                <a:gd name="connsiteY243" fmla="*/ 639446 h 868681"/>
                <a:gd name="connsiteX244" fmla="*/ 1218564 w 1219200"/>
                <a:gd name="connsiteY244" fmla="*/ 639446 h 868681"/>
                <a:gd name="connsiteX245" fmla="*/ 1218564 w 1219200"/>
                <a:gd name="connsiteY245" fmla="*/ 647066 h 868681"/>
                <a:gd name="connsiteX246" fmla="*/ 1163954 w 1219200"/>
                <a:gd name="connsiteY246" fmla="*/ 647066 h 868681"/>
                <a:gd name="connsiteX247" fmla="*/ 1183004 w 1219200"/>
                <a:gd name="connsiteY247" fmla="*/ 664846 h 868681"/>
                <a:gd name="connsiteX248" fmla="*/ 1198879 w 1219200"/>
                <a:gd name="connsiteY248" fmla="*/ 658496 h 868681"/>
                <a:gd name="connsiteX249" fmla="*/ 1214754 w 1219200"/>
                <a:gd name="connsiteY249" fmla="*/ 671831 h 868681"/>
                <a:gd name="connsiteX250" fmla="*/ 1182370 w 1219200"/>
                <a:gd name="connsiteY250" fmla="*/ 686436 h 868681"/>
                <a:gd name="connsiteX251" fmla="*/ 1141095 w 1219200"/>
                <a:gd name="connsiteY251" fmla="*/ 639446 h 868681"/>
                <a:gd name="connsiteX252" fmla="*/ 1181099 w 1219200"/>
                <a:gd name="connsiteY252" fmla="*/ 592456 h 868681"/>
                <a:gd name="connsiteX253" fmla="*/ 691515 w 1219200"/>
                <a:gd name="connsiteY253" fmla="*/ 592456 h 868681"/>
                <a:gd name="connsiteX254" fmla="*/ 729614 w 1219200"/>
                <a:gd name="connsiteY254" fmla="*/ 639446 h 868681"/>
                <a:gd name="connsiteX255" fmla="*/ 728980 w 1219200"/>
                <a:gd name="connsiteY255" fmla="*/ 639446 h 868681"/>
                <a:gd name="connsiteX256" fmla="*/ 728980 w 1219200"/>
                <a:gd name="connsiteY256" fmla="*/ 647066 h 868681"/>
                <a:gd name="connsiteX257" fmla="*/ 674370 w 1219200"/>
                <a:gd name="connsiteY257" fmla="*/ 647066 h 868681"/>
                <a:gd name="connsiteX258" fmla="*/ 693420 w 1219200"/>
                <a:gd name="connsiteY258" fmla="*/ 664846 h 868681"/>
                <a:gd name="connsiteX259" fmla="*/ 709295 w 1219200"/>
                <a:gd name="connsiteY259" fmla="*/ 658496 h 868681"/>
                <a:gd name="connsiteX260" fmla="*/ 725170 w 1219200"/>
                <a:gd name="connsiteY260" fmla="*/ 671831 h 868681"/>
                <a:gd name="connsiteX261" fmla="*/ 692784 w 1219200"/>
                <a:gd name="connsiteY261" fmla="*/ 686436 h 868681"/>
                <a:gd name="connsiteX262" fmla="*/ 651510 w 1219200"/>
                <a:gd name="connsiteY262" fmla="*/ 639446 h 868681"/>
                <a:gd name="connsiteX263" fmla="*/ 691515 w 1219200"/>
                <a:gd name="connsiteY263" fmla="*/ 592456 h 868681"/>
                <a:gd name="connsiteX264" fmla="*/ 412114 w 1219200"/>
                <a:gd name="connsiteY264" fmla="*/ 592456 h 868681"/>
                <a:gd name="connsiteX265" fmla="*/ 448310 w 1219200"/>
                <a:gd name="connsiteY265" fmla="*/ 639446 h 868681"/>
                <a:gd name="connsiteX266" fmla="*/ 448310 w 1219200"/>
                <a:gd name="connsiteY266" fmla="*/ 647066 h 868681"/>
                <a:gd name="connsiteX267" fmla="*/ 395605 w 1219200"/>
                <a:gd name="connsiteY267" fmla="*/ 647066 h 868681"/>
                <a:gd name="connsiteX268" fmla="*/ 415290 w 1219200"/>
                <a:gd name="connsiteY268" fmla="*/ 664846 h 868681"/>
                <a:gd name="connsiteX269" fmla="*/ 430530 w 1219200"/>
                <a:gd name="connsiteY269" fmla="*/ 658496 h 868681"/>
                <a:gd name="connsiteX270" fmla="*/ 446405 w 1219200"/>
                <a:gd name="connsiteY270" fmla="*/ 671831 h 868681"/>
                <a:gd name="connsiteX271" fmla="*/ 413385 w 1219200"/>
                <a:gd name="connsiteY271" fmla="*/ 686436 h 868681"/>
                <a:gd name="connsiteX272" fmla="*/ 372110 w 1219200"/>
                <a:gd name="connsiteY272" fmla="*/ 640081 h 868681"/>
                <a:gd name="connsiteX273" fmla="*/ 412114 w 1219200"/>
                <a:gd name="connsiteY273" fmla="*/ 592456 h 868681"/>
                <a:gd name="connsiteX274" fmla="*/ 326390 w 1219200"/>
                <a:gd name="connsiteY274" fmla="*/ 592456 h 868681"/>
                <a:gd name="connsiteX275" fmla="*/ 361314 w 1219200"/>
                <a:gd name="connsiteY275" fmla="*/ 639446 h 868681"/>
                <a:gd name="connsiteX276" fmla="*/ 326390 w 1219200"/>
                <a:gd name="connsiteY276" fmla="*/ 686436 h 868681"/>
                <a:gd name="connsiteX277" fmla="*/ 306070 w 1219200"/>
                <a:gd name="connsiteY277" fmla="*/ 678816 h 868681"/>
                <a:gd name="connsiteX278" fmla="*/ 306070 w 1219200"/>
                <a:gd name="connsiteY278" fmla="*/ 706121 h 868681"/>
                <a:gd name="connsiteX279" fmla="*/ 283845 w 1219200"/>
                <a:gd name="connsiteY279" fmla="*/ 717551 h 868681"/>
                <a:gd name="connsiteX280" fmla="*/ 283845 w 1219200"/>
                <a:gd name="connsiteY280" fmla="*/ 594361 h 868681"/>
                <a:gd name="connsiteX281" fmla="*/ 306070 w 1219200"/>
                <a:gd name="connsiteY281" fmla="*/ 594361 h 868681"/>
                <a:gd name="connsiteX282" fmla="*/ 306070 w 1219200"/>
                <a:gd name="connsiteY282" fmla="*/ 600711 h 868681"/>
                <a:gd name="connsiteX283" fmla="*/ 326390 w 1219200"/>
                <a:gd name="connsiteY283" fmla="*/ 592456 h 868681"/>
                <a:gd name="connsiteX284" fmla="*/ 231775 w 1219200"/>
                <a:gd name="connsiteY284" fmla="*/ 592456 h 868681"/>
                <a:gd name="connsiteX285" fmla="*/ 268605 w 1219200"/>
                <a:gd name="connsiteY285" fmla="*/ 624206 h 868681"/>
                <a:gd name="connsiteX286" fmla="*/ 268605 w 1219200"/>
                <a:gd name="connsiteY286" fmla="*/ 684531 h 868681"/>
                <a:gd name="connsiteX287" fmla="*/ 267970 w 1219200"/>
                <a:gd name="connsiteY287" fmla="*/ 684531 h 868681"/>
                <a:gd name="connsiteX288" fmla="*/ 245745 w 1219200"/>
                <a:gd name="connsiteY288" fmla="*/ 684531 h 868681"/>
                <a:gd name="connsiteX289" fmla="*/ 245745 w 1219200"/>
                <a:gd name="connsiteY289" fmla="*/ 678181 h 868681"/>
                <a:gd name="connsiteX290" fmla="*/ 224790 w 1219200"/>
                <a:gd name="connsiteY290" fmla="*/ 686436 h 868681"/>
                <a:gd name="connsiteX291" fmla="*/ 193040 w 1219200"/>
                <a:gd name="connsiteY291" fmla="*/ 655321 h 868681"/>
                <a:gd name="connsiteX292" fmla="*/ 227965 w 1219200"/>
                <a:gd name="connsiteY292" fmla="*/ 624841 h 868681"/>
                <a:gd name="connsiteX293" fmla="*/ 245745 w 1219200"/>
                <a:gd name="connsiteY293" fmla="*/ 628651 h 868681"/>
                <a:gd name="connsiteX294" fmla="*/ 245745 w 1219200"/>
                <a:gd name="connsiteY294" fmla="*/ 623571 h 868681"/>
                <a:gd name="connsiteX295" fmla="*/ 230504 w 1219200"/>
                <a:gd name="connsiteY295" fmla="*/ 611506 h 868681"/>
                <a:gd name="connsiteX296" fmla="*/ 209549 w 1219200"/>
                <a:gd name="connsiteY296" fmla="*/ 617221 h 868681"/>
                <a:gd name="connsiteX297" fmla="*/ 200659 w 1219200"/>
                <a:gd name="connsiteY297" fmla="*/ 601346 h 868681"/>
                <a:gd name="connsiteX298" fmla="*/ 231775 w 1219200"/>
                <a:gd name="connsiteY298" fmla="*/ 592456 h 868681"/>
                <a:gd name="connsiteX299" fmla="*/ 1125855 w 1219200"/>
                <a:gd name="connsiteY299" fmla="*/ 591821 h 868681"/>
                <a:gd name="connsiteX300" fmla="*/ 1142364 w 1219200"/>
                <a:gd name="connsiteY300" fmla="*/ 598171 h 868681"/>
                <a:gd name="connsiteX301" fmla="*/ 1141730 w 1219200"/>
                <a:gd name="connsiteY301" fmla="*/ 598806 h 868681"/>
                <a:gd name="connsiteX302" fmla="*/ 1132840 w 1219200"/>
                <a:gd name="connsiteY302" fmla="*/ 621031 h 868681"/>
                <a:gd name="connsiteX303" fmla="*/ 1120140 w 1219200"/>
                <a:gd name="connsiteY303" fmla="*/ 615316 h 868681"/>
                <a:gd name="connsiteX304" fmla="*/ 1106805 w 1219200"/>
                <a:gd name="connsiteY304" fmla="*/ 635001 h 868681"/>
                <a:gd name="connsiteX305" fmla="*/ 1106805 w 1219200"/>
                <a:gd name="connsiteY305" fmla="*/ 683896 h 868681"/>
                <a:gd name="connsiteX306" fmla="*/ 1084579 w 1219200"/>
                <a:gd name="connsiteY306" fmla="*/ 683896 h 868681"/>
                <a:gd name="connsiteX307" fmla="*/ 1084579 w 1219200"/>
                <a:gd name="connsiteY307" fmla="*/ 593726 h 868681"/>
                <a:gd name="connsiteX308" fmla="*/ 1106805 w 1219200"/>
                <a:gd name="connsiteY308" fmla="*/ 593726 h 868681"/>
                <a:gd name="connsiteX309" fmla="*/ 1106805 w 1219200"/>
                <a:gd name="connsiteY309" fmla="*/ 600076 h 868681"/>
                <a:gd name="connsiteX310" fmla="*/ 1125855 w 1219200"/>
                <a:gd name="connsiteY310" fmla="*/ 591821 h 868681"/>
                <a:gd name="connsiteX311" fmla="*/ 47625 w 1219200"/>
                <a:gd name="connsiteY311" fmla="*/ 563881 h 868681"/>
                <a:gd name="connsiteX312" fmla="*/ 90170 w 1219200"/>
                <a:gd name="connsiteY312" fmla="*/ 582296 h 868681"/>
                <a:gd name="connsiteX313" fmla="*/ 73659 w 1219200"/>
                <a:gd name="connsiteY313" fmla="*/ 598806 h 868681"/>
                <a:gd name="connsiteX314" fmla="*/ 46355 w 1219200"/>
                <a:gd name="connsiteY314" fmla="*/ 586741 h 868681"/>
                <a:gd name="connsiteX315" fmla="*/ 28575 w 1219200"/>
                <a:gd name="connsiteY315" fmla="*/ 598171 h 868681"/>
                <a:gd name="connsiteX316" fmla="*/ 33655 w 1219200"/>
                <a:gd name="connsiteY316" fmla="*/ 606426 h 868681"/>
                <a:gd name="connsiteX317" fmla="*/ 52704 w 1219200"/>
                <a:gd name="connsiteY317" fmla="*/ 612776 h 868681"/>
                <a:gd name="connsiteX318" fmla="*/ 81915 w 1219200"/>
                <a:gd name="connsiteY318" fmla="*/ 624841 h 868681"/>
                <a:gd name="connsiteX319" fmla="*/ 92427 w 1219200"/>
                <a:gd name="connsiteY319" fmla="*/ 648959 h 868681"/>
                <a:gd name="connsiteX320" fmla="*/ 79454 w 1219200"/>
                <a:gd name="connsiteY320" fmla="*/ 677626 h 868681"/>
                <a:gd name="connsiteX321" fmla="*/ 47625 w 1219200"/>
                <a:gd name="connsiteY321" fmla="*/ 686436 h 868681"/>
                <a:gd name="connsiteX322" fmla="*/ 0 w 1219200"/>
                <a:gd name="connsiteY322" fmla="*/ 664846 h 868681"/>
                <a:gd name="connsiteX323" fmla="*/ 16510 w 1219200"/>
                <a:gd name="connsiteY323" fmla="*/ 650241 h 868681"/>
                <a:gd name="connsiteX324" fmla="*/ 46989 w 1219200"/>
                <a:gd name="connsiteY324" fmla="*/ 664211 h 868681"/>
                <a:gd name="connsiteX325" fmla="*/ 68579 w 1219200"/>
                <a:gd name="connsiteY325" fmla="*/ 649606 h 868681"/>
                <a:gd name="connsiteX326" fmla="*/ 61595 w 1219200"/>
                <a:gd name="connsiteY326" fmla="*/ 640081 h 868681"/>
                <a:gd name="connsiteX327" fmla="*/ 41909 w 1219200"/>
                <a:gd name="connsiteY327" fmla="*/ 634366 h 868681"/>
                <a:gd name="connsiteX328" fmla="*/ 14605 w 1219200"/>
                <a:gd name="connsiteY328" fmla="*/ 623571 h 868681"/>
                <a:gd name="connsiteX329" fmla="*/ 4444 w 1219200"/>
                <a:gd name="connsiteY329" fmla="*/ 599441 h 868681"/>
                <a:gd name="connsiteX330" fmla="*/ 47625 w 1219200"/>
                <a:gd name="connsiteY330" fmla="*/ 563881 h 868681"/>
                <a:gd name="connsiteX331" fmla="*/ 814070 w 1219200"/>
                <a:gd name="connsiteY331" fmla="*/ 560071 h 868681"/>
                <a:gd name="connsiteX332" fmla="*/ 830579 w 1219200"/>
                <a:gd name="connsiteY332" fmla="*/ 562611 h 868681"/>
                <a:gd name="connsiteX333" fmla="*/ 829945 w 1219200"/>
                <a:gd name="connsiteY333" fmla="*/ 562611 h 868681"/>
                <a:gd name="connsiteX334" fmla="*/ 829945 w 1219200"/>
                <a:gd name="connsiteY334" fmla="*/ 581026 h 868681"/>
                <a:gd name="connsiteX335" fmla="*/ 818515 w 1219200"/>
                <a:gd name="connsiteY335" fmla="*/ 579121 h 868681"/>
                <a:gd name="connsiteX336" fmla="*/ 808989 w 1219200"/>
                <a:gd name="connsiteY336" fmla="*/ 586741 h 868681"/>
                <a:gd name="connsiteX337" fmla="*/ 808989 w 1219200"/>
                <a:gd name="connsiteY337" fmla="*/ 594361 h 868681"/>
                <a:gd name="connsiteX338" fmla="*/ 824230 w 1219200"/>
                <a:gd name="connsiteY338" fmla="*/ 594361 h 868681"/>
                <a:gd name="connsiteX339" fmla="*/ 824230 w 1219200"/>
                <a:gd name="connsiteY339" fmla="*/ 615951 h 868681"/>
                <a:gd name="connsiteX340" fmla="*/ 808989 w 1219200"/>
                <a:gd name="connsiteY340" fmla="*/ 615951 h 868681"/>
                <a:gd name="connsiteX341" fmla="*/ 808989 w 1219200"/>
                <a:gd name="connsiteY341" fmla="*/ 684531 h 868681"/>
                <a:gd name="connsiteX342" fmla="*/ 786765 w 1219200"/>
                <a:gd name="connsiteY342" fmla="*/ 684531 h 868681"/>
                <a:gd name="connsiteX343" fmla="*/ 786765 w 1219200"/>
                <a:gd name="connsiteY343" fmla="*/ 615951 h 868681"/>
                <a:gd name="connsiteX344" fmla="*/ 775970 w 1219200"/>
                <a:gd name="connsiteY344" fmla="*/ 615951 h 868681"/>
                <a:gd name="connsiteX345" fmla="*/ 775970 w 1219200"/>
                <a:gd name="connsiteY345" fmla="*/ 594361 h 868681"/>
                <a:gd name="connsiteX346" fmla="*/ 786765 w 1219200"/>
                <a:gd name="connsiteY346" fmla="*/ 594361 h 868681"/>
                <a:gd name="connsiteX347" fmla="*/ 786765 w 1219200"/>
                <a:gd name="connsiteY347" fmla="*/ 583566 h 868681"/>
                <a:gd name="connsiteX348" fmla="*/ 814070 w 1219200"/>
                <a:gd name="connsiteY348" fmla="*/ 560071 h 868681"/>
                <a:gd name="connsiteX349" fmla="*/ 957579 w 1219200"/>
                <a:gd name="connsiteY349" fmla="*/ 559436 h 868681"/>
                <a:gd name="connsiteX350" fmla="*/ 957579 w 1219200"/>
                <a:gd name="connsiteY350" fmla="*/ 594361 h 868681"/>
                <a:gd name="connsiteX351" fmla="*/ 979170 w 1219200"/>
                <a:gd name="connsiteY351" fmla="*/ 594361 h 868681"/>
                <a:gd name="connsiteX352" fmla="*/ 979170 w 1219200"/>
                <a:gd name="connsiteY352" fmla="*/ 615951 h 868681"/>
                <a:gd name="connsiteX353" fmla="*/ 957579 w 1219200"/>
                <a:gd name="connsiteY353" fmla="*/ 615951 h 868681"/>
                <a:gd name="connsiteX354" fmla="*/ 957579 w 1219200"/>
                <a:gd name="connsiteY354" fmla="*/ 654051 h 868681"/>
                <a:gd name="connsiteX355" fmla="*/ 966470 w 1219200"/>
                <a:gd name="connsiteY355" fmla="*/ 664846 h 868681"/>
                <a:gd name="connsiteX356" fmla="*/ 981075 w 1219200"/>
                <a:gd name="connsiteY356" fmla="*/ 658496 h 868681"/>
                <a:gd name="connsiteX357" fmla="*/ 977900 w 1219200"/>
                <a:gd name="connsiteY357" fmla="*/ 681356 h 868681"/>
                <a:gd name="connsiteX358" fmla="*/ 959485 w 1219200"/>
                <a:gd name="connsiteY358" fmla="*/ 686436 h 868681"/>
                <a:gd name="connsiteX359" fmla="*/ 935355 w 1219200"/>
                <a:gd name="connsiteY359" fmla="*/ 659766 h 868681"/>
                <a:gd name="connsiteX360" fmla="*/ 935355 w 1219200"/>
                <a:gd name="connsiteY360" fmla="*/ 615951 h 868681"/>
                <a:gd name="connsiteX361" fmla="*/ 922655 w 1219200"/>
                <a:gd name="connsiteY361" fmla="*/ 615951 h 868681"/>
                <a:gd name="connsiteX362" fmla="*/ 922655 w 1219200"/>
                <a:gd name="connsiteY362" fmla="*/ 594361 h 868681"/>
                <a:gd name="connsiteX363" fmla="*/ 935355 w 1219200"/>
                <a:gd name="connsiteY363" fmla="*/ 594361 h 868681"/>
                <a:gd name="connsiteX364" fmla="*/ 935355 w 1219200"/>
                <a:gd name="connsiteY364" fmla="*/ 570866 h 868681"/>
                <a:gd name="connsiteX365" fmla="*/ 586739 w 1219200"/>
                <a:gd name="connsiteY365" fmla="*/ 559436 h 868681"/>
                <a:gd name="connsiteX366" fmla="*/ 586739 w 1219200"/>
                <a:gd name="connsiteY366" fmla="*/ 600711 h 868681"/>
                <a:gd name="connsiteX367" fmla="*/ 607695 w 1219200"/>
                <a:gd name="connsiteY367" fmla="*/ 592456 h 868681"/>
                <a:gd name="connsiteX368" fmla="*/ 639445 w 1219200"/>
                <a:gd name="connsiteY368" fmla="*/ 633731 h 868681"/>
                <a:gd name="connsiteX369" fmla="*/ 639445 w 1219200"/>
                <a:gd name="connsiteY369" fmla="*/ 684531 h 868681"/>
                <a:gd name="connsiteX370" fmla="*/ 617220 w 1219200"/>
                <a:gd name="connsiteY370" fmla="*/ 684531 h 868681"/>
                <a:gd name="connsiteX371" fmla="*/ 617220 w 1219200"/>
                <a:gd name="connsiteY371" fmla="*/ 635636 h 868681"/>
                <a:gd name="connsiteX372" fmla="*/ 601980 w 1219200"/>
                <a:gd name="connsiteY372" fmla="*/ 614681 h 868681"/>
                <a:gd name="connsiteX373" fmla="*/ 586739 w 1219200"/>
                <a:gd name="connsiteY373" fmla="*/ 635001 h 868681"/>
                <a:gd name="connsiteX374" fmla="*/ 586739 w 1219200"/>
                <a:gd name="connsiteY374" fmla="*/ 684531 h 868681"/>
                <a:gd name="connsiteX375" fmla="*/ 564515 w 1219200"/>
                <a:gd name="connsiteY375" fmla="*/ 684531 h 868681"/>
                <a:gd name="connsiteX376" fmla="*/ 564515 w 1219200"/>
                <a:gd name="connsiteY376" fmla="*/ 570866 h 868681"/>
                <a:gd name="connsiteX377" fmla="*/ 529590 w 1219200"/>
                <a:gd name="connsiteY377" fmla="*/ 559436 h 868681"/>
                <a:gd name="connsiteX378" fmla="*/ 529590 w 1219200"/>
                <a:gd name="connsiteY378" fmla="*/ 594361 h 868681"/>
                <a:gd name="connsiteX379" fmla="*/ 550545 w 1219200"/>
                <a:gd name="connsiteY379" fmla="*/ 594361 h 868681"/>
                <a:gd name="connsiteX380" fmla="*/ 550545 w 1219200"/>
                <a:gd name="connsiteY380" fmla="*/ 615951 h 868681"/>
                <a:gd name="connsiteX381" fmla="*/ 529590 w 1219200"/>
                <a:gd name="connsiteY381" fmla="*/ 615951 h 868681"/>
                <a:gd name="connsiteX382" fmla="*/ 529590 w 1219200"/>
                <a:gd name="connsiteY382" fmla="*/ 654051 h 868681"/>
                <a:gd name="connsiteX383" fmla="*/ 538480 w 1219200"/>
                <a:gd name="connsiteY383" fmla="*/ 664846 h 868681"/>
                <a:gd name="connsiteX384" fmla="*/ 553084 w 1219200"/>
                <a:gd name="connsiteY384" fmla="*/ 658496 h 868681"/>
                <a:gd name="connsiteX385" fmla="*/ 549909 w 1219200"/>
                <a:gd name="connsiteY385" fmla="*/ 681356 h 868681"/>
                <a:gd name="connsiteX386" fmla="*/ 531495 w 1219200"/>
                <a:gd name="connsiteY386" fmla="*/ 686436 h 868681"/>
                <a:gd name="connsiteX387" fmla="*/ 507364 w 1219200"/>
                <a:gd name="connsiteY387" fmla="*/ 659766 h 868681"/>
                <a:gd name="connsiteX388" fmla="*/ 507364 w 1219200"/>
                <a:gd name="connsiteY388" fmla="*/ 615951 h 868681"/>
                <a:gd name="connsiteX389" fmla="*/ 491489 w 1219200"/>
                <a:gd name="connsiteY389" fmla="*/ 615951 h 868681"/>
                <a:gd name="connsiteX390" fmla="*/ 491489 w 1219200"/>
                <a:gd name="connsiteY390" fmla="*/ 594361 h 868681"/>
                <a:gd name="connsiteX391" fmla="*/ 507364 w 1219200"/>
                <a:gd name="connsiteY391" fmla="*/ 594361 h 868681"/>
                <a:gd name="connsiteX392" fmla="*/ 507364 w 1219200"/>
                <a:gd name="connsiteY392" fmla="*/ 570866 h 868681"/>
                <a:gd name="connsiteX393" fmla="*/ 128269 w 1219200"/>
                <a:gd name="connsiteY393" fmla="*/ 559436 h 868681"/>
                <a:gd name="connsiteX394" fmla="*/ 128269 w 1219200"/>
                <a:gd name="connsiteY394" fmla="*/ 600711 h 868681"/>
                <a:gd name="connsiteX395" fmla="*/ 149224 w 1219200"/>
                <a:gd name="connsiteY395" fmla="*/ 592456 h 868681"/>
                <a:gd name="connsiteX396" fmla="*/ 180974 w 1219200"/>
                <a:gd name="connsiteY396" fmla="*/ 633731 h 868681"/>
                <a:gd name="connsiteX397" fmla="*/ 180974 w 1219200"/>
                <a:gd name="connsiteY397" fmla="*/ 684531 h 868681"/>
                <a:gd name="connsiteX398" fmla="*/ 158750 w 1219200"/>
                <a:gd name="connsiteY398" fmla="*/ 684531 h 868681"/>
                <a:gd name="connsiteX399" fmla="*/ 158750 w 1219200"/>
                <a:gd name="connsiteY399" fmla="*/ 635636 h 868681"/>
                <a:gd name="connsiteX400" fmla="*/ 143510 w 1219200"/>
                <a:gd name="connsiteY400" fmla="*/ 614681 h 868681"/>
                <a:gd name="connsiteX401" fmla="*/ 128269 w 1219200"/>
                <a:gd name="connsiteY401" fmla="*/ 635001 h 868681"/>
                <a:gd name="connsiteX402" fmla="*/ 128269 w 1219200"/>
                <a:gd name="connsiteY402" fmla="*/ 684531 h 868681"/>
                <a:gd name="connsiteX403" fmla="*/ 106045 w 1219200"/>
                <a:gd name="connsiteY403" fmla="*/ 684531 h 868681"/>
                <a:gd name="connsiteX404" fmla="*/ 106045 w 1219200"/>
                <a:gd name="connsiteY404" fmla="*/ 570866 h 868681"/>
                <a:gd name="connsiteX405" fmla="*/ 269875 w 1219200"/>
                <a:gd name="connsiteY405" fmla="*/ 635 h 868681"/>
                <a:gd name="connsiteX406" fmla="*/ 501015 w 1219200"/>
                <a:gd name="connsiteY406" fmla="*/ 635 h 868681"/>
                <a:gd name="connsiteX407" fmla="*/ 554989 w 1219200"/>
                <a:gd name="connsiteY407" fmla="*/ 94615 h 868681"/>
                <a:gd name="connsiteX408" fmla="*/ 391795 w 1219200"/>
                <a:gd name="connsiteY408" fmla="*/ 94615 h 868681"/>
                <a:gd name="connsiteX409" fmla="*/ 391795 w 1219200"/>
                <a:gd name="connsiteY409" fmla="*/ 161925 h 868681"/>
                <a:gd name="connsiteX410" fmla="*/ 539114 w 1219200"/>
                <a:gd name="connsiteY410" fmla="*/ 161925 h 868681"/>
                <a:gd name="connsiteX411" fmla="*/ 539114 w 1219200"/>
                <a:gd name="connsiteY411" fmla="*/ 247650 h 868681"/>
                <a:gd name="connsiteX412" fmla="*/ 391795 w 1219200"/>
                <a:gd name="connsiteY412" fmla="*/ 247650 h 868681"/>
                <a:gd name="connsiteX413" fmla="*/ 391795 w 1219200"/>
                <a:gd name="connsiteY413" fmla="*/ 314325 h 868681"/>
                <a:gd name="connsiteX414" fmla="*/ 595629 w 1219200"/>
                <a:gd name="connsiteY414" fmla="*/ 314325 h 868681"/>
                <a:gd name="connsiteX415" fmla="*/ 595629 w 1219200"/>
                <a:gd name="connsiteY415" fmla="*/ 408305 h 868681"/>
                <a:gd name="connsiteX416" fmla="*/ 269875 w 1219200"/>
                <a:gd name="connsiteY416" fmla="*/ 408305 h 868681"/>
                <a:gd name="connsiteX417" fmla="*/ 539114 w 1219200"/>
                <a:gd name="connsiteY417" fmla="*/ 0 h 868681"/>
                <a:gd name="connsiteX418" fmla="*/ 674370 w 1219200"/>
                <a:gd name="connsiteY418" fmla="*/ 0 h 868681"/>
                <a:gd name="connsiteX419" fmla="*/ 743584 w 1219200"/>
                <a:gd name="connsiteY419" fmla="*/ 132715 h 868681"/>
                <a:gd name="connsiteX420" fmla="*/ 812799 w 1219200"/>
                <a:gd name="connsiteY420" fmla="*/ 0 h 868681"/>
                <a:gd name="connsiteX421" fmla="*/ 946150 w 1219200"/>
                <a:gd name="connsiteY421" fmla="*/ 0 h 868681"/>
                <a:gd name="connsiteX422" fmla="*/ 803275 w 1219200"/>
                <a:gd name="connsiteY422" fmla="*/ 246380 h 868681"/>
                <a:gd name="connsiteX423" fmla="*/ 803275 w 1219200"/>
                <a:gd name="connsiteY423" fmla="*/ 407670 h 868681"/>
                <a:gd name="connsiteX424" fmla="*/ 681355 w 1219200"/>
                <a:gd name="connsiteY424" fmla="*/ 407670 h 868681"/>
                <a:gd name="connsiteX425" fmla="*/ 681355 w 1219200"/>
                <a:gd name="connsiteY425" fmla="*/ 246380 h 868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219200" h="868681">
                  <a:moveTo>
                    <a:pt x="245110" y="839471"/>
                  </a:moveTo>
                  <a:lnTo>
                    <a:pt x="246379" y="839471"/>
                  </a:lnTo>
                  <a:lnTo>
                    <a:pt x="245041" y="839979"/>
                  </a:lnTo>
                  <a:close/>
                  <a:moveTo>
                    <a:pt x="522605" y="796926"/>
                  </a:moveTo>
                  <a:cubicBezTo>
                    <a:pt x="509905" y="796926"/>
                    <a:pt x="504189" y="807721"/>
                    <a:pt x="504189" y="821691"/>
                  </a:cubicBezTo>
                  <a:cubicBezTo>
                    <a:pt x="504189" y="831216"/>
                    <a:pt x="508000" y="845821"/>
                    <a:pt x="522605" y="845821"/>
                  </a:cubicBezTo>
                  <a:cubicBezTo>
                    <a:pt x="537845" y="845821"/>
                    <a:pt x="541019" y="831851"/>
                    <a:pt x="541019" y="821691"/>
                  </a:cubicBezTo>
                  <a:cubicBezTo>
                    <a:pt x="541019" y="807721"/>
                    <a:pt x="535305" y="796926"/>
                    <a:pt x="522605" y="796926"/>
                  </a:cubicBezTo>
                  <a:close/>
                  <a:moveTo>
                    <a:pt x="817245" y="796291"/>
                  </a:moveTo>
                  <a:cubicBezTo>
                    <a:pt x="803909" y="796291"/>
                    <a:pt x="800735" y="807086"/>
                    <a:pt x="800735" y="819786"/>
                  </a:cubicBezTo>
                  <a:cubicBezTo>
                    <a:pt x="800735" y="834391"/>
                    <a:pt x="805180" y="846456"/>
                    <a:pt x="817879" y="846456"/>
                  </a:cubicBezTo>
                  <a:cubicBezTo>
                    <a:pt x="824230" y="846456"/>
                    <a:pt x="828674" y="843281"/>
                    <a:pt x="833754" y="838836"/>
                  </a:cubicBezTo>
                  <a:lnTo>
                    <a:pt x="833754" y="838201"/>
                  </a:lnTo>
                  <a:lnTo>
                    <a:pt x="833754" y="803911"/>
                  </a:lnTo>
                  <a:cubicBezTo>
                    <a:pt x="828674" y="798831"/>
                    <a:pt x="824230" y="796291"/>
                    <a:pt x="817245" y="796291"/>
                  </a:cubicBezTo>
                  <a:close/>
                  <a:moveTo>
                    <a:pt x="1179195" y="794386"/>
                  </a:moveTo>
                  <a:cubicBezTo>
                    <a:pt x="1168400" y="794386"/>
                    <a:pt x="1163954" y="803911"/>
                    <a:pt x="1163320" y="811531"/>
                  </a:cubicBezTo>
                  <a:lnTo>
                    <a:pt x="1163954" y="811531"/>
                  </a:lnTo>
                  <a:lnTo>
                    <a:pt x="1195704" y="811531"/>
                  </a:lnTo>
                  <a:cubicBezTo>
                    <a:pt x="1195070" y="801371"/>
                    <a:pt x="1188720" y="794386"/>
                    <a:pt x="1179195" y="794386"/>
                  </a:cubicBezTo>
                  <a:close/>
                  <a:moveTo>
                    <a:pt x="909320" y="794386"/>
                  </a:moveTo>
                  <a:cubicBezTo>
                    <a:pt x="898525" y="794386"/>
                    <a:pt x="894079" y="803911"/>
                    <a:pt x="893445" y="811531"/>
                  </a:cubicBezTo>
                  <a:lnTo>
                    <a:pt x="894079" y="811531"/>
                  </a:lnTo>
                  <a:lnTo>
                    <a:pt x="925829" y="811531"/>
                  </a:lnTo>
                  <a:cubicBezTo>
                    <a:pt x="925195" y="801371"/>
                    <a:pt x="918845" y="794386"/>
                    <a:pt x="909320" y="794386"/>
                  </a:cubicBezTo>
                  <a:close/>
                  <a:moveTo>
                    <a:pt x="737870" y="775971"/>
                  </a:moveTo>
                  <a:lnTo>
                    <a:pt x="761364" y="775971"/>
                  </a:lnTo>
                  <a:lnTo>
                    <a:pt x="761364" y="866141"/>
                  </a:lnTo>
                  <a:lnTo>
                    <a:pt x="737870" y="866141"/>
                  </a:lnTo>
                  <a:close/>
                  <a:moveTo>
                    <a:pt x="143510" y="775971"/>
                  </a:moveTo>
                  <a:lnTo>
                    <a:pt x="167004" y="775971"/>
                  </a:lnTo>
                  <a:lnTo>
                    <a:pt x="167004" y="866141"/>
                  </a:lnTo>
                  <a:lnTo>
                    <a:pt x="143510" y="866141"/>
                  </a:lnTo>
                  <a:close/>
                  <a:moveTo>
                    <a:pt x="635" y="775971"/>
                  </a:moveTo>
                  <a:lnTo>
                    <a:pt x="26670" y="775971"/>
                  </a:lnTo>
                  <a:lnTo>
                    <a:pt x="40004" y="828041"/>
                  </a:lnTo>
                  <a:lnTo>
                    <a:pt x="55245" y="775971"/>
                  </a:lnTo>
                  <a:lnTo>
                    <a:pt x="76200" y="775971"/>
                  </a:lnTo>
                  <a:lnTo>
                    <a:pt x="91439" y="828041"/>
                  </a:lnTo>
                  <a:lnTo>
                    <a:pt x="105409" y="775971"/>
                  </a:lnTo>
                  <a:lnTo>
                    <a:pt x="130810" y="775971"/>
                  </a:lnTo>
                  <a:lnTo>
                    <a:pt x="102235" y="866141"/>
                  </a:lnTo>
                  <a:lnTo>
                    <a:pt x="80644" y="866141"/>
                  </a:lnTo>
                  <a:lnTo>
                    <a:pt x="65405" y="811531"/>
                  </a:lnTo>
                  <a:lnTo>
                    <a:pt x="50165" y="866141"/>
                  </a:lnTo>
                  <a:lnTo>
                    <a:pt x="28575" y="866141"/>
                  </a:lnTo>
                  <a:close/>
                  <a:moveTo>
                    <a:pt x="1181099" y="774066"/>
                  </a:moveTo>
                  <a:cubicBezTo>
                    <a:pt x="1204595" y="774066"/>
                    <a:pt x="1219200" y="795021"/>
                    <a:pt x="1219200" y="821056"/>
                  </a:cubicBezTo>
                  <a:lnTo>
                    <a:pt x="1218564" y="821056"/>
                  </a:lnTo>
                  <a:cubicBezTo>
                    <a:pt x="1218564" y="821056"/>
                    <a:pt x="1218564" y="827406"/>
                    <a:pt x="1218564" y="828676"/>
                  </a:cubicBezTo>
                  <a:lnTo>
                    <a:pt x="1163954" y="828676"/>
                  </a:lnTo>
                  <a:cubicBezTo>
                    <a:pt x="1165224" y="841376"/>
                    <a:pt x="1173480" y="846456"/>
                    <a:pt x="1183004" y="846456"/>
                  </a:cubicBezTo>
                  <a:cubicBezTo>
                    <a:pt x="1188720" y="846456"/>
                    <a:pt x="1193799" y="844551"/>
                    <a:pt x="1198879" y="840106"/>
                  </a:cubicBezTo>
                  <a:lnTo>
                    <a:pt x="1214754" y="853441"/>
                  </a:lnTo>
                  <a:cubicBezTo>
                    <a:pt x="1206500" y="864236"/>
                    <a:pt x="1193799" y="868046"/>
                    <a:pt x="1182370" y="868046"/>
                  </a:cubicBezTo>
                  <a:cubicBezTo>
                    <a:pt x="1156335" y="868046"/>
                    <a:pt x="1141095" y="847726"/>
                    <a:pt x="1141095" y="821056"/>
                  </a:cubicBezTo>
                  <a:cubicBezTo>
                    <a:pt x="1141095" y="792481"/>
                    <a:pt x="1158875" y="774066"/>
                    <a:pt x="1181099" y="774066"/>
                  </a:cubicBezTo>
                  <a:close/>
                  <a:moveTo>
                    <a:pt x="1097915" y="774066"/>
                  </a:moveTo>
                  <a:cubicBezTo>
                    <a:pt x="1113790" y="774066"/>
                    <a:pt x="1125220" y="781051"/>
                    <a:pt x="1133474" y="793751"/>
                  </a:cubicBezTo>
                  <a:lnTo>
                    <a:pt x="1118235" y="808991"/>
                  </a:lnTo>
                  <a:cubicBezTo>
                    <a:pt x="1113155" y="802006"/>
                    <a:pt x="1107439" y="796291"/>
                    <a:pt x="1097915" y="796291"/>
                  </a:cubicBezTo>
                  <a:cubicBezTo>
                    <a:pt x="1085215" y="796291"/>
                    <a:pt x="1078864" y="807086"/>
                    <a:pt x="1078864" y="820421"/>
                  </a:cubicBezTo>
                  <a:cubicBezTo>
                    <a:pt x="1078864" y="833121"/>
                    <a:pt x="1084579" y="845186"/>
                    <a:pt x="1097915" y="845186"/>
                  </a:cubicBezTo>
                  <a:cubicBezTo>
                    <a:pt x="1106170" y="845186"/>
                    <a:pt x="1113155" y="840741"/>
                    <a:pt x="1118235" y="833756"/>
                  </a:cubicBezTo>
                  <a:lnTo>
                    <a:pt x="1118870" y="834391"/>
                  </a:lnTo>
                  <a:lnTo>
                    <a:pt x="1133474" y="848361"/>
                  </a:lnTo>
                  <a:cubicBezTo>
                    <a:pt x="1125855" y="857886"/>
                    <a:pt x="1115060" y="868046"/>
                    <a:pt x="1097280" y="868046"/>
                  </a:cubicBezTo>
                  <a:cubicBezTo>
                    <a:pt x="1072515" y="868046"/>
                    <a:pt x="1054735" y="848361"/>
                    <a:pt x="1054735" y="821056"/>
                  </a:cubicBezTo>
                  <a:cubicBezTo>
                    <a:pt x="1054735" y="796291"/>
                    <a:pt x="1069974" y="774066"/>
                    <a:pt x="1097915" y="774066"/>
                  </a:cubicBezTo>
                  <a:close/>
                  <a:moveTo>
                    <a:pt x="1009015" y="774066"/>
                  </a:moveTo>
                  <a:cubicBezTo>
                    <a:pt x="1033144" y="774066"/>
                    <a:pt x="1041400" y="793116"/>
                    <a:pt x="1041400" y="815341"/>
                  </a:cubicBezTo>
                  <a:lnTo>
                    <a:pt x="1041400" y="866141"/>
                  </a:lnTo>
                  <a:lnTo>
                    <a:pt x="1017905" y="866141"/>
                  </a:lnTo>
                  <a:lnTo>
                    <a:pt x="1017905" y="817246"/>
                  </a:lnTo>
                  <a:cubicBezTo>
                    <a:pt x="1017905" y="804546"/>
                    <a:pt x="1014730" y="796291"/>
                    <a:pt x="1002665" y="796291"/>
                  </a:cubicBezTo>
                  <a:cubicBezTo>
                    <a:pt x="990599" y="796291"/>
                    <a:pt x="986790" y="803276"/>
                    <a:pt x="986790" y="816611"/>
                  </a:cubicBezTo>
                  <a:lnTo>
                    <a:pt x="986790" y="866141"/>
                  </a:lnTo>
                  <a:lnTo>
                    <a:pt x="963295" y="866141"/>
                  </a:lnTo>
                  <a:lnTo>
                    <a:pt x="963295" y="775971"/>
                  </a:lnTo>
                  <a:lnTo>
                    <a:pt x="986790" y="775971"/>
                  </a:lnTo>
                  <a:lnTo>
                    <a:pt x="986790" y="782321"/>
                  </a:lnTo>
                  <a:cubicBezTo>
                    <a:pt x="991870" y="777241"/>
                    <a:pt x="998855" y="774066"/>
                    <a:pt x="1009015" y="774066"/>
                  </a:cubicBezTo>
                  <a:close/>
                  <a:moveTo>
                    <a:pt x="911224" y="774066"/>
                  </a:moveTo>
                  <a:cubicBezTo>
                    <a:pt x="934720" y="774066"/>
                    <a:pt x="949325" y="795021"/>
                    <a:pt x="949325" y="821056"/>
                  </a:cubicBezTo>
                  <a:lnTo>
                    <a:pt x="948689" y="821056"/>
                  </a:lnTo>
                  <a:cubicBezTo>
                    <a:pt x="948689" y="821056"/>
                    <a:pt x="948689" y="827406"/>
                    <a:pt x="948689" y="828676"/>
                  </a:cubicBezTo>
                  <a:lnTo>
                    <a:pt x="894079" y="828676"/>
                  </a:lnTo>
                  <a:cubicBezTo>
                    <a:pt x="895349" y="841376"/>
                    <a:pt x="903605" y="846456"/>
                    <a:pt x="913129" y="846456"/>
                  </a:cubicBezTo>
                  <a:cubicBezTo>
                    <a:pt x="918845" y="846456"/>
                    <a:pt x="923924" y="844551"/>
                    <a:pt x="929004" y="840106"/>
                  </a:cubicBezTo>
                  <a:lnTo>
                    <a:pt x="944879" y="853441"/>
                  </a:lnTo>
                  <a:cubicBezTo>
                    <a:pt x="936625" y="864236"/>
                    <a:pt x="923924" y="868046"/>
                    <a:pt x="912495" y="868046"/>
                  </a:cubicBezTo>
                  <a:cubicBezTo>
                    <a:pt x="886459" y="868046"/>
                    <a:pt x="871220" y="847726"/>
                    <a:pt x="871220" y="821056"/>
                  </a:cubicBezTo>
                  <a:cubicBezTo>
                    <a:pt x="871220" y="792481"/>
                    <a:pt x="889000" y="774066"/>
                    <a:pt x="911224" y="774066"/>
                  </a:cubicBezTo>
                  <a:close/>
                  <a:moveTo>
                    <a:pt x="623570" y="774066"/>
                  </a:moveTo>
                  <a:cubicBezTo>
                    <a:pt x="647700" y="774066"/>
                    <a:pt x="655954" y="793116"/>
                    <a:pt x="655954" y="815341"/>
                  </a:cubicBezTo>
                  <a:lnTo>
                    <a:pt x="655954" y="866141"/>
                  </a:lnTo>
                  <a:lnTo>
                    <a:pt x="632459" y="866141"/>
                  </a:lnTo>
                  <a:lnTo>
                    <a:pt x="632459" y="817246"/>
                  </a:lnTo>
                  <a:cubicBezTo>
                    <a:pt x="632459" y="804546"/>
                    <a:pt x="629284" y="796291"/>
                    <a:pt x="617220" y="796291"/>
                  </a:cubicBezTo>
                  <a:cubicBezTo>
                    <a:pt x="605155" y="796291"/>
                    <a:pt x="601345" y="803276"/>
                    <a:pt x="601345" y="816611"/>
                  </a:cubicBezTo>
                  <a:lnTo>
                    <a:pt x="601345" y="866141"/>
                  </a:lnTo>
                  <a:lnTo>
                    <a:pt x="577849" y="866141"/>
                  </a:lnTo>
                  <a:lnTo>
                    <a:pt x="577849" y="775971"/>
                  </a:lnTo>
                  <a:lnTo>
                    <a:pt x="601345" y="775971"/>
                  </a:lnTo>
                  <a:lnTo>
                    <a:pt x="601345" y="782321"/>
                  </a:lnTo>
                  <a:cubicBezTo>
                    <a:pt x="606424" y="777241"/>
                    <a:pt x="613409" y="774066"/>
                    <a:pt x="623570" y="774066"/>
                  </a:cubicBezTo>
                  <a:close/>
                  <a:moveTo>
                    <a:pt x="522605" y="774066"/>
                  </a:moveTo>
                  <a:cubicBezTo>
                    <a:pt x="548004" y="774066"/>
                    <a:pt x="564515" y="793116"/>
                    <a:pt x="564515" y="821056"/>
                  </a:cubicBezTo>
                  <a:cubicBezTo>
                    <a:pt x="564515" y="848996"/>
                    <a:pt x="546735" y="868046"/>
                    <a:pt x="522605" y="868046"/>
                  </a:cubicBezTo>
                  <a:cubicBezTo>
                    <a:pt x="498474" y="868046"/>
                    <a:pt x="480695" y="848996"/>
                    <a:pt x="480695" y="821056"/>
                  </a:cubicBezTo>
                  <a:cubicBezTo>
                    <a:pt x="480695" y="794386"/>
                    <a:pt x="496570" y="774066"/>
                    <a:pt x="522605" y="774066"/>
                  </a:cubicBezTo>
                  <a:close/>
                  <a:moveTo>
                    <a:pt x="436879" y="774066"/>
                  </a:moveTo>
                  <a:cubicBezTo>
                    <a:pt x="452754" y="774066"/>
                    <a:pt x="464185" y="781051"/>
                    <a:pt x="472439" y="793751"/>
                  </a:cubicBezTo>
                  <a:lnTo>
                    <a:pt x="457200" y="808991"/>
                  </a:lnTo>
                  <a:cubicBezTo>
                    <a:pt x="452120" y="802006"/>
                    <a:pt x="446405" y="796291"/>
                    <a:pt x="436879" y="796291"/>
                  </a:cubicBezTo>
                  <a:cubicBezTo>
                    <a:pt x="424180" y="796291"/>
                    <a:pt x="417829" y="807086"/>
                    <a:pt x="417829" y="820421"/>
                  </a:cubicBezTo>
                  <a:cubicBezTo>
                    <a:pt x="417829" y="833121"/>
                    <a:pt x="423545" y="845186"/>
                    <a:pt x="436879" y="845186"/>
                  </a:cubicBezTo>
                  <a:cubicBezTo>
                    <a:pt x="445135" y="845186"/>
                    <a:pt x="452120" y="840741"/>
                    <a:pt x="457200" y="833756"/>
                  </a:cubicBezTo>
                  <a:lnTo>
                    <a:pt x="457834" y="834391"/>
                  </a:lnTo>
                  <a:lnTo>
                    <a:pt x="472439" y="848361"/>
                  </a:lnTo>
                  <a:cubicBezTo>
                    <a:pt x="464820" y="857886"/>
                    <a:pt x="454025" y="868046"/>
                    <a:pt x="436245" y="868046"/>
                  </a:cubicBezTo>
                  <a:cubicBezTo>
                    <a:pt x="411480" y="868046"/>
                    <a:pt x="393700" y="848361"/>
                    <a:pt x="393700" y="821056"/>
                  </a:cubicBezTo>
                  <a:cubicBezTo>
                    <a:pt x="393700" y="796291"/>
                    <a:pt x="408939" y="774066"/>
                    <a:pt x="436879" y="774066"/>
                  </a:cubicBezTo>
                  <a:close/>
                  <a:moveTo>
                    <a:pt x="219075" y="742316"/>
                  </a:moveTo>
                  <a:lnTo>
                    <a:pt x="219075" y="777241"/>
                  </a:lnTo>
                  <a:lnTo>
                    <a:pt x="245110" y="777241"/>
                  </a:lnTo>
                  <a:lnTo>
                    <a:pt x="245110" y="798831"/>
                  </a:lnTo>
                  <a:lnTo>
                    <a:pt x="219075" y="798831"/>
                  </a:lnTo>
                  <a:lnTo>
                    <a:pt x="219075" y="835661"/>
                  </a:lnTo>
                  <a:cubicBezTo>
                    <a:pt x="219075" y="843916"/>
                    <a:pt x="222250" y="846456"/>
                    <a:pt x="227965" y="846456"/>
                  </a:cubicBezTo>
                  <a:lnTo>
                    <a:pt x="245041" y="839979"/>
                  </a:lnTo>
                  <a:lnTo>
                    <a:pt x="241935" y="862966"/>
                  </a:lnTo>
                  <a:cubicBezTo>
                    <a:pt x="236855" y="866776"/>
                    <a:pt x="225424" y="868681"/>
                    <a:pt x="219709" y="868681"/>
                  </a:cubicBezTo>
                  <a:cubicBezTo>
                    <a:pt x="205739" y="868681"/>
                    <a:pt x="195579" y="857251"/>
                    <a:pt x="195579" y="842011"/>
                  </a:cubicBezTo>
                  <a:lnTo>
                    <a:pt x="195579" y="798831"/>
                  </a:lnTo>
                  <a:lnTo>
                    <a:pt x="179704" y="798831"/>
                  </a:lnTo>
                  <a:lnTo>
                    <a:pt x="179704" y="777241"/>
                  </a:lnTo>
                  <a:lnTo>
                    <a:pt x="195579" y="777241"/>
                  </a:lnTo>
                  <a:lnTo>
                    <a:pt x="195579" y="753746"/>
                  </a:lnTo>
                  <a:close/>
                  <a:moveTo>
                    <a:pt x="749935" y="741681"/>
                  </a:moveTo>
                  <a:cubicBezTo>
                    <a:pt x="757555" y="741681"/>
                    <a:pt x="763269" y="747396"/>
                    <a:pt x="763269" y="755016"/>
                  </a:cubicBezTo>
                  <a:cubicBezTo>
                    <a:pt x="763269" y="762636"/>
                    <a:pt x="757555" y="768351"/>
                    <a:pt x="749935" y="768351"/>
                  </a:cubicBezTo>
                  <a:cubicBezTo>
                    <a:pt x="742314" y="768351"/>
                    <a:pt x="736599" y="762636"/>
                    <a:pt x="736599" y="755016"/>
                  </a:cubicBezTo>
                  <a:cubicBezTo>
                    <a:pt x="736599" y="747396"/>
                    <a:pt x="742314" y="741681"/>
                    <a:pt x="749935" y="741681"/>
                  </a:cubicBezTo>
                  <a:close/>
                  <a:moveTo>
                    <a:pt x="154939" y="741681"/>
                  </a:moveTo>
                  <a:cubicBezTo>
                    <a:pt x="162560" y="741681"/>
                    <a:pt x="168275" y="747396"/>
                    <a:pt x="168275" y="755016"/>
                  </a:cubicBezTo>
                  <a:cubicBezTo>
                    <a:pt x="168275" y="762636"/>
                    <a:pt x="162560" y="768351"/>
                    <a:pt x="154939" y="768351"/>
                  </a:cubicBezTo>
                  <a:cubicBezTo>
                    <a:pt x="147320" y="768351"/>
                    <a:pt x="141605" y="762636"/>
                    <a:pt x="141605" y="755016"/>
                  </a:cubicBezTo>
                  <a:cubicBezTo>
                    <a:pt x="141605" y="747396"/>
                    <a:pt x="147320" y="741681"/>
                    <a:pt x="154939" y="741681"/>
                  </a:cubicBezTo>
                  <a:close/>
                  <a:moveTo>
                    <a:pt x="856614" y="741046"/>
                  </a:moveTo>
                  <a:lnTo>
                    <a:pt x="856614" y="866141"/>
                  </a:lnTo>
                  <a:lnTo>
                    <a:pt x="833120" y="866141"/>
                  </a:lnTo>
                  <a:lnTo>
                    <a:pt x="833120" y="860426"/>
                  </a:lnTo>
                  <a:cubicBezTo>
                    <a:pt x="825500" y="866141"/>
                    <a:pt x="821055" y="868046"/>
                    <a:pt x="812799" y="868046"/>
                  </a:cubicBezTo>
                  <a:cubicBezTo>
                    <a:pt x="786765" y="868046"/>
                    <a:pt x="775970" y="845821"/>
                    <a:pt x="775970" y="820421"/>
                  </a:cubicBezTo>
                  <a:cubicBezTo>
                    <a:pt x="775970" y="793116"/>
                    <a:pt x="788670" y="774066"/>
                    <a:pt x="812165" y="774066"/>
                  </a:cubicBezTo>
                  <a:cubicBezTo>
                    <a:pt x="819784" y="774066"/>
                    <a:pt x="827405" y="775971"/>
                    <a:pt x="833120" y="781051"/>
                  </a:cubicBezTo>
                  <a:lnTo>
                    <a:pt x="833120" y="752476"/>
                  </a:lnTo>
                  <a:close/>
                  <a:moveTo>
                    <a:pt x="707390" y="741046"/>
                  </a:moveTo>
                  <a:cubicBezTo>
                    <a:pt x="712470" y="741046"/>
                    <a:pt x="719454" y="741046"/>
                    <a:pt x="724534" y="743586"/>
                  </a:cubicBezTo>
                  <a:lnTo>
                    <a:pt x="724534" y="744221"/>
                  </a:lnTo>
                  <a:lnTo>
                    <a:pt x="724534" y="762636"/>
                  </a:lnTo>
                  <a:cubicBezTo>
                    <a:pt x="721360" y="761366"/>
                    <a:pt x="716280" y="760731"/>
                    <a:pt x="713105" y="760731"/>
                  </a:cubicBezTo>
                  <a:cubicBezTo>
                    <a:pt x="706120" y="760731"/>
                    <a:pt x="703579" y="762636"/>
                    <a:pt x="703579" y="768351"/>
                  </a:cubicBezTo>
                  <a:lnTo>
                    <a:pt x="703579" y="775336"/>
                  </a:lnTo>
                  <a:lnTo>
                    <a:pt x="722629" y="775336"/>
                  </a:lnTo>
                  <a:lnTo>
                    <a:pt x="722629" y="796926"/>
                  </a:lnTo>
                  <a:lnTo>
                    <a:pt x="703579" y="796926"/>
                  </a:lnTo>
                  <a:lnTo>
                    <a:pt x="703579" y="865506"/>
                  </a:lnTo>
                  <a:lnTo>
                    <a:pt x="680084" y="865506"/>
                  </a:lnTo>
                  <a:lnTo>
                    <a:pt x="680084" y="796926"/>
                  </a:lnTo>
                  <a:lnTo>
                    <a:pt x="667385" y="796926"/>
                  </a:lnTo>
                  <a:lnTo>
                    <a:pt x="667385" y="775336"/>
                  </a:lnTo>
                  <a:lnTo>
                    <a:pt x="680084" y="775336"/>
                  </a:lnTo>
                  <a:lnTo>
                    <a:pt x="680084" y="764541"/>
                  </a:lnTo>
                  <a:cubicBezTo>
                    <a:pt x="680084" y="748031"/>
                    <a:pt x="690879" y="741046"/>
                    <a:pt x="707390" y="741046"/>
                  </a:cubicBezTo>
                  <a:close/>
                  <a:moveTo>
                    <a:pt x="282575" y="741046"/>
                  </a:moveTo>
                  <a:lnTo>
                    <a:pt x="282575" y="782321"/>
                  </a:lnTo>
                  <a:cubicBezTo>
                    <a:pt x="287019" y="777241"/>
                    <a:pt x="295909" y="774066"/>
                    <a:pt x="304799" y="774066"/>
                  </a:cubicBezTo>
                  <a:cubicBezTo>
                    <a:pt x="328295" y="774066"/>
                    <a:pt x="336549" y="792481"/>
                    <a:pt x="336549" y="815341"/>
                  </a:cubicBezTo>
                  <a:lnTo>
                    <a:pt x="336549" y="866141"/>
                  </a:lnTo>
                  <a:lnTo>
                    <a:pt x="313689" y="866141"/>
                  </a:lnTo>
                  <a:lnTo>
                    <a:pt x="313689" y="817246"/>
                  </a:lnTo>
                  <a:cubicBezTo>
                    <a:pt x="313689" y="804546"/>
                    <a:pt x="310515" y="796291"/>
                    <a:pt x="298450" y="796291"/>
                  </a:cubicBezTo>
                  <a:cubicBezTo>
                    <a:pt x="286385" y="796291"/>
                    <a:pt x="282575" y="803276"/>
                    <a:pt x="282575" y="816611"/>
                  </a:cubicBezTo>
                  <a:lnTo>
                    <a:pt x="282575" y="866141"/>
                  </a:lnTo>
                  <a:lnTo>
                    <a:pt x="259079" y="866141"/>
                  </a:lnTo>
                  <a:lnTo>
                    <a:pt x="259079" y="752476"/>
                  </a:lnTo>
                  <a:close/>
                  <a:moveTo>
                    <a:pt x="92709" y="648336"/>
                  </a:moveTo>
                  <a:lnTo>
                    <a:pt x="92709" y="649606"/>
                  </a:lnTo>
                  <a:lnTo>
                    <a:pt x="92427" y="648959"/>
                  </a:lnTo>
                  <a:close/>
                  <a:moveTo>
                    <a:pt x="230504" y="643256"/>
                  </a:moveTo>
                  <a:cubicBezTo>
                    <a:pt x="220345" y="643256"/>
                    <a:pt x="215900" y="647701"/>
                    <a:pt x="215900" y="654686"/>
                  </a:cubicBezTo>
                  <a:cubicBezTo>
                    <a:pt x="215900" y="661671"/>
                    <a:pt x="220345" y="667386"/>
                    <a:pt x="228599" y="667386"/>
                  </a:cubicBezTo>
                  <a:cubicBezTo>
                    <a:pt x="233045" y="667386"/>
                    <a:pt x="240665" y="666116"/>
                    <a:pt x="245745" y="658496"/>
                  </a:cubicBezTo>
                  <a:lnTo>
                    <a:pt x="245745" y="647066"/>
                  </a:lnTo>
                  <a:cubicBezTo>
                    <a:pt x="241299" y="643891"/>
                    <a:pt x="234950" y="643256"/>
                    <a:pt x="230504" y="643256"/>
                  </a:cubicBezTo>
                  <a:close/>
                  <a:moveTo>
                    <a:pt x="321310" y="614046"/>
                  </a:moveTo>
                  <a:cubicBezTo>
                    <a:pt x="314959" y="614046"/>
                    <a:pt x="309879" y="617221"/>
                    <a:pt x="306704" y="622301"/>
                  </a:cubicBezTo>
                  <a:lnTo>
                    <a:pt x="306704" y="656591"/>
                  </a:lnTo>
                  <a:cubicBezTo>
                    <a:pt x="310515" y="661671"/>
                    <a:pt x="316230" y="664846"/>
                    <a:pt x="323215" y="664846"/>
                  </a:cubicBezTo>
                  <a:cubicBezTo>
                    <a:pt x="335915" y="664846"/>
                    <a:pt x="339090" y="653416"/>
                    <a:pt x="339090" y="640716"/>
                  </a:cubicBezTo>
                  <a:lnTo>
                    <a:pt x="338454" y="640716"/>
                  </a:lnTo>
                  <a:cubicBezTo>
                    <a:pt x="338454" y="627381"/>
                    <a:pt x="335280" y="614046"/>
                    <a:pt x="321310" y="614046"/>
                  </a:cubicBezTo>
                  <a:close/>
                  <a:moveTo>
                    <a:pt x="1179195" y="612776"/>
                  </a:moveTo>
                  <a:cubicBezTo>
                    <a:pt x="1168400" y="612776"/>
                    <a:pt x="1163954" y="622301"/>
                    <a:pt x="1163320" y="629921"/>
                  </a:cubicBezTo>
                  <a:lnTo>
                    <a:pt x="1163954" y="629921"/>
                  </a:lnTo>
                  <a:lnTo>
                    <a:pt x="1195704" y="629921"/>
                  </a:lnTo>
                  <a:cubicBezTo>
                    <a:pt x="1195070" y="619761"/>
                    <a:pt x="1188720" y="612776"/>
                    <a:pt x="1179195" y="612776"/>
                  </a:cubicBezTo>
                  <a:close/>
                  <a:moveTo>
                    <a:pt x="689610" y="612776"/>
                  </a:moveTo>
                  <a:cubicBezTo>
                    <a:pt x="678814" y="612776"/>
                    <a:pt x="674370" y="622301"/>
                    <a:pt x="673735" y="629921"/>
                  </a:cubicBezTo>
                  <a:lnTo>
                    <a:pt x="674370" y="629921"/>
                  </a:lnTo>
                  <a:lnTo>
                    <a:pt x="706120" y="629921"/>
                  </a:lnTo>
                  <a:cubicBezTo>
                    <a:pt x="705485" y="619761"/>
                    <a:pt x="699135" y="612776"/>
                    <a:pt x="689610" y="612776"/>
                  </a:cubicBezTo>
                  <a:close/>
                  <a:moveTo>
                    <a:pt x="410845" y="612776"/>
                  </a:moveTo>
                  <a:cubicBezTo>
                    <a:pt x="400685" y="612776"/>
                    <a:pt x="396239" y="622301"/>
                    <a:pt x="395605" y="629921"/>
                  </a:cubicBezTo>
                  <a:lnTo>
                    <a:pt x="427355" y="629921"/>
                  </a:lnTo>
                  <a:cubicBezTo>
                    <a:pt x="426084" y="619761"/>
                    <a:pt x="420370" y="612776"/>
                    <a:pt x="410845" y="612776"/>
                  </a:cubicBezTo>
                  <a:close/>
                  <a:moveTo>
                    <a:pt x="991870" y="594361"/>
                  </a:moveTo>
                  <a:lnTo>
                    <a:pt x="1014095" y="594361"/>
                  </a:lnTo>
                  <a:lnTo>
                    <a:pt x="1014095" y="643256"/>
                  </a:lnTo>
                  <a:cubicBezTo>
                    <a:pt x="1014095" y="655321"/>
                    <a:pt x="1016635" y="664846"/>
                    <a:pt x="1029334" y="664846"/>
                  </a:cubicBezTo>
                  <a:cubicBezTo>
                    <a:pt x="1042034" y="664846"/>
                    <a:pt x="1044575" y="655321"/>
                    <a:pt x="1044575" y="644526"/>
                  </a:cubicBezTo>
                  <a:lnTo>
                    <a:pt x="1044575" y="594996"/>
                  </a:lnTo>
                  <a:lnTo>
                    <a:pt x="1066799" y="594996"/>
                  </a:lnTo>
                  <a:lnTo>
                    <a:pt x="1066799" y="684531"/>
                  </a:lnTo>
                  <a:lnTo>
                    <a:pt x="1044575" y="684531"/>
                  </a:lnTo>
                  <a:lnTo>
                    <a:pt x="1044575" y="678181"/>
                  </a:lnTo>
                  <a:cubicBezTo>
                    <a:pt x="1039495" y="683896"/>
                    <a:pt x="1031875" y="686436"/>
                    <a:pt x="1023620" y="686436"/>
                  </a:cubicBezTo>
                  <a:cubicBezTo>
                    <a:pt x="1000125" y="686436"/>
                    <a:pt x="991870" y="669926"/>
                    <a:pt x="991870" y="645161"/>
                  </a:cubicBezTo>
                  <a:close/>
                  <a:moveTo>
                    <a:pt x="836295" y="594361"/>
                  </a:moveTo>
                  <a:lnTo>
                    <a:pt x="858519" y="594361"/>
                  </a:lnTo>
                  <a:lnTo>
                    <a:pt x="858519" y="643256"/>
                  </a:lnTo>
                  <a:cubicBezTo>
                    <a:pt x="858519" y="655321"/>
                    <a:pt x="861060" y="664846"/>
                    <a:pt x="873760" y="664846"/>
                  </a:cubicBezTo>
                  <a:cubicBezTo>
                    <a:pt x="886459" y="664846"/>
                    <a:pt x="889000" y="655321"/>
                    <a:pt x="889000" y="644526"/>
                  </a:cubicBezTo>
                  <a:lnTo>
                    <a:pt x="889000" y="594996"/>
                  </a:lnTo>
                  <a:lnTo>
                    <a:pt x="911224" y="594996"/>
                  </a:lnTo>
                  <a:lnTo>
                    <a:pt x="911224" y="684531"/>
                  </a:lnTo>
                  <a:lnTo>
                    <a:pt x="889000" y="684531"/>
                  </a:lnTo>
                  <a:lnTo>
                    <a:pt x="889000" y="678181"/>
                  </a:lnTo>
                  <a:cubicBezTo>
                    <a:pt x="883920" y="683896"/>
                    <a:pt x="876299" y="686436"/>
                    <a:pt x="868045" y="686436"/>
                  </a:cubicBezTo>
                  <a:cubicBezTo>
                    <a:pt x="844549" y="686436"/>
                    <a:pt x="836295" y="669926"/>
                    <a:pt x="836295" y="645161"/>
                  </a:cubicBezTo>
                  <a:close/>
                  <a:moveTo>
                    <a:pt x="1181099" y="592456"/>
                  </a:moveTo>
                  <a:cubicBezTo>
                    <a:pt x="1204595" y="592456"/>
                    <a:pt x="1219200" y="613411"/>
                    <a:pt x="1219200" y="639446"/>
                  </a:cubicBezTo>
                  <a:lnTo>
                    <a:pt x="1218564" y="639446"/>
                  </a:lnTo>
                  <a:cubicBezTo>
                    <a:pt x="1218564" y="639446"/>
                    <a:pt x="1218564" y="645796"/>
                    <a:pt x="1218564" y="647066"/>
                  </a:cubicBezTo>
                  <a:lnTo>
                    <a:pt x="1163954" y="647066"/>
                  </a:lnTo>
                  <a:cubicBezTo>
                    <a:pt x="1165224" y="659766"/>
                    <a:pt x="1173480" y="664846"/>
                    <a:pt x="1183004" y="664846"/>
                  </a:cubicBezTo>
                  <a:cubicBezTo>
                    <a:pt x="1188720" y="664846"/>
                    <a:pt x="1193799" y="662941"/>
                    <a:pt x="1198879" y="658496"/>
                  </a:cubicBezTo>
                  <a:lnTo>
                    <a:pt x="1214754" y="671831"/>
                  </a:lnTo>
                  <a:cubicBezTo>
                    <a:pt x="1206500" y="682626"/>
                    <a:pt x="1193799" y="686436"/>
                    <a:pt x="1182370" y="686436"/>
                  </a:cubicBezTo>
                  <a:cubicBezTo>
                    <a:pt x="1156335" y="686436"/>
                    <a:pt x="1141095" y="666116"/>
                    <a:pt x="1141095" y="639446"/>
                  </a:cubicBezTo>
                  <a:cubicBezTo>
                    <a:pt x="1141095" y="610871"/>
                    <a:pt x="1158875" y="592456"/>
                    <a:pt x="1181099" y="592456"/>
                  </a:cubicBezTo>
                  <a:close/>
                  <a:moveTo>
                    <a:pt x="691515" y="592456"/>
                  </a:moveTo>
                  <a:cubicBezTo>
                    <a:pt x="715010" y="592456"/>
                    <a:pt x="729614" y="613411"/>
                    <a:pt x="729614" y="639446"/>
                  </a:cubicBezTo>
                  <a:lnTo>
                    <a:pt x="728980" y="639446"/>
                  </a:lnTo>
                  <a:cubicBezTo>
                    <a:pt x="728980" y="639446"/>
                    <a:pt x="728980" y="645796"/>
                    <a:pt x="728980" y="647066"/>
                  </a:cubicBezTo>
                  <a:lnTo>
                    <a:pt x="674370" y="647066"/>
                  </a:lnTo>
                  <a:cubicBezTo>
                    <a:pt x="675640" y="659766"/>
                    <a:pt x="683894" y="664846"/>
                    <a:pt x="693420" y="664846"/>
                  </a:cubicBezTo>
                  <a:cubicBezTo>
                    <a:pt x="699135" y="664846"/>
                    <a:pt x="704215" y="662941"/>
                    <a:pt x="709295" y="658496"/>
                  </a:cubicBezTo>
                  <a:lnTo>
                    <a:pt x="725170" y="671831"/>
                  </a:lnTo>
                  <a:cubicBezTo>
                    <a:pt x="716915" y="682626"/>
                    <a:pt x="704215" y="686436"/>
                    <a:pt x="692784" y="686436"/>
                  </a:cubicBezTo>
                  <a:cubicBezTo>
                    <a:pt x="666750" y="686436"/>
                    <a:pt x="651510" y="666116"/>
                    <a:pt x="651510" y="639446"/>
                  </a:cubicBezTo>
                  <a:cubicBezTo>
                    <a:pt x="651510" y="610871"/>
                    <a:pt x="669290" y="592456"/>
                    <a:pt x="691515" y="592456"/>
                  </a:cubicBezTo>
                  <a:close/>
                  <a:moveTo>
                    <a:pt x="412114" y="592456"/>
                  </a:moveTo>
                  <a:cubicBezTo>
                    <a:pt x="437515" y="592456"/>
                    <a:pt x="448310" y="615316"/>
                    <a:pt x="448310" y="639446"/>
                  </a:cubicBezTo>
                  <a:cubicBezTo>
                    <a:pt x="448310" y="639446"/>
                    <a:pt x="448310" y="645796"/>
                    <a:pt x="448310" y="647066"/>
                  </a:cubicBezTo>
                  <a:lnTo>
                    <a:pt x="395605" y="647066"/>
                  </a:lnTo>
                  <a:cubicBezTo>
                    <a:pt x="396875" y="659766"/>
                    <a:pt x="405129" y="664846"/>
                    <a:pt x="415290" y="664846"/>
                  </a:cubicBezTo>
                  <a:cubicBezTo>
                    <a:pt x="421004" y="664846"/>
                    <a:pt x="426084" y="662941"/>
                    <a:pt x="430530" y="658496"/>
                  </a:cubicBezTo>
                  <a:lnTo>
                    <a:pt x="446405" y="671831"/>
                  </a:lnTo>
                  <a:cubicBezTo>
                    <a:pt x="438784" y="681991"/>
                    <a:pt x="425450" y="686436"/>
                    <a:pt x="413385" y="686436"/>
                  </a:cubicBezTo>
                  <a:cubicBezTo>
                    <a:pt x="387349" y="686436"/>
                    <a:pt x="372110" y="666116"/>
                    <a:pt x="372110" y="640081"/>
                  </a:cubicBezTo>
                  <a:cubicBezTo>
                    <a:pt x="372110" y="614046"/>
                    <a:pt x="388620" y="592456"/>
                    <a:pt x="412114" y="592456"/>
                  </a:cubicBezTo>
                  <a:close/>
                  <a:moveTo>
                    <a:pt x="326390" y="592456"/>
                  </a:moveTo>
                  <a:cubicBezTo>
                    <a:pt x="350519" y="592456"/>
                    <a:pt x="361314" y="615316"/>
                    <a:pt x="361314" y="639446"/>
                  </a:cubicBezTo>
                  <a:cubicBezTo>
                    <a:pt x="361314" y="662306"/>
                    <a:pt x="351790" y="686436"/>
                    <a:pt x="326390" y="686436"/>
                  </a:cubicBezTo>
                  <a:cubicBezTo>
                    <a:pt x="316230" y="686436"/>
                    <a:pt x="310515" y="682626"/>
                    <a:pt x="306070" y="678816"/>
                  </a:cubicBezTo>
                  <a:lnTo>
                    <a:pt x="306070" y="706121"/>
                  </a:lnTo>
                  <a:lnTo>
                    <a:pt x="283845" y="717551"/>
                  </a:lnTo>
                  <a:lnTo>
                    <a:pt x="283845" y="594361"/>
                  </a:lnTo>
                  <a:lnTo>
                    <a:pt x="306070" y="594361"/>
                  </a:lnTo>
                  <a:lnTo>
                    <a:pt x="306070" y="600711"/>
                  </a:lnTo>
                  <a:cubicBezTo>
                    <a:pt x="311784" y="595631"/>
                    <a:pt x="318135" y="592456"/>
                    <a:pt x="326390" y="592456"/>
                  </a:cubicBezTo>
                  <a:close/>
                  <a:moveTo>
                    <a:pt x="231775" y="592456"/>
                  </a:moveTo>
                  <a:cubicBezTo>
                    <a:pt x="254635" y="592456"/>
                    <a:pt x="268605" y="603251"/>
                    <a:pt x="268605" y="624206"/>
                  </a:cubicBezTo>
                  <a:lnTo>
                    <a:pt x="268605" y="684531"/>
                  </a:lnTo>
                  <a:lnTo>
                    <a:pt x="267970" y="684531"/>
                  </a:lnTo>
                  <a:lnTo>
                    <a:pt x="245745" y="684531"/>
                  </a:lnTo>
                  <a:lnTo>
                    <a:pt x="245745" y="678181"/>
                  </a:lnTo>
                  <a:cubicBezTo>
                    <a:pt x="240665" y="683261"/>
                    <a:pt x="233680" y="686436"/>
                    <a:pt x="224790" y="686436"/>
                  </a:cubicBezTo>
                  <a:cubicBezTo>
                    <a:pt x="207010" y="686436"/>
                    <a:pt x="193040" y="675006"/>
                    <a:pt x="193040" y="655321"/>
                  </a:cubicBezTo>
                  <a:cubicBezTo>
                    <a:pt x="193040" y="635636"/>
                    <a:pt x="206375" y="624841"/>
                    <a:pt x="227965" y="624841"/>
                  </a:cubicBezTo>
                  <a:cubicBezTo>
                    <a:pt x="233680" y="624841"/>
                    <a:pt x="239394" y="625476"/>
                    <a:pt x="245745" y="628651"/>
                  </a:cubicBezTo>
                  <a:lnTo>
                    <a:pt x="245745" y="623571"/>
                  </a:lnTo>
                  <a:cubicBezTo>
                    <a:pt x="245745" y="615316"/>
                    <a:pt x="240030" y="611506"/>
                    <a:pt x="230504" y="611506"/>
                  </a:cubicBezTo>
                  <a:cubicBezTo>
                    <a:pt x="223519" y="611506"/>
                    <a:pt x="216534" y="613411"/>
                    <a:pt x="209549" y="617221"/>
                  </a:cubicBezTo>
                  <a:lnTo>
                    <a:pt x="200659" y="601346"/>
                  </a:lnTo>
                  <a:cubicBezTo>
                    <a:pt x="210185" y="594996"/>
                    <a:pt x="219709" y="592456"/>
                    <a:pt x="231775" y="592456"/>
                  </a:cubicBezTo>
                  <a:close/>
                  <a:moveTo>
                    <a:pt x="1125855" y="591821"/>
                  </a:moveTo>
                  <a:cubicBezTo>
                    <a:pt x="1132204" y="591821"/>
                    <a:pt x="1137920" y="593726"/>
                    <a:pt x="1142364" y="598171"/>
                  </a:cubicBezTo>
                  <a:lnTo>
                    <a:pt x="1141730" y="598806"/>
                  </a:lnTo>
                  <a:lnTo>
                    <a:pt x="1132840" y="621031"/>
                  </a:lnTo>
                  <a:cubicBezTo>
                    <a:pt x="1129665" y="617856"/>
                    <a:pt x="1125220" y="615316"/>
                    <a:pt x="1120140" y="615316"/>
                  </a:cubicBezTo>
                  <a:cubicBezTo>
                    <a:pt x="1109345" y="615316"/>
                    <a:pt x="1106805" y="624206"/>
                    <a:pt x="1106805" y="635001"/>
                  </a:cubicBezTo>
                  <a:lnTo>
                    <a:pt x="1106805" y="683896"/>
                  </a:lnTo>
                  <a:lnTo>
                    <a:pt x="1084579" y="683896"/>
                  </a:lnTo>
                  <a:lnTo>
                    <a:pt x="1084579" y="593726"/>
                  </a:lnTo>
                  <a:lnTo>
                    <a:pt x="1106805" y="593726"/>
                  </a:lnTo>
                  <a:lnTo>
                    <a:pt x="1106805" y="600076"/>
                  </a:lnTo>
                  <a:cubicBezTo>
                    <a:pt x="1111885" y="594996"/>
                    <a:pt x="1118235" y="591821"/>
                    <a:pt x="1125855" y="591821"/>
                  </a:cubicBezTo>
                  <a:close/>
                  <a:moveTo>
                    <a:pt x="47625" y="563881"/>
                  </a:moveTo>
                  <a:cubicBezTo>
                    <a:pt x="66040" y="563881"/>
                    <a:pt x="79375" y="571501"/>
                    <a:pt x="90170" y="582296"/>
                  </a:cubicBezTo>
                  <a:lnTo>
                    <a:pt x="73659" y="598806"/>
                  </a:lnTo>
                  <a:cubicBezTo>
                    <a:pt x="66040" y="591186"/>
                    <a:pt x="58420" y="586741"/>
                    <a:pt x="46355" y="586741"/>
                  </a:cubicBezTo>
                  <a:cubicBezTo>
                    <a:pt x="36194" y="586741"/>
                    <a:pt x="28575" y="589916"/>
                    <a:pt x="28575" y="598171"/>
                  </a:cubicBezTo>
                  <a:cubicBezTo>
                    <a:pt x="28575" y="601981"/>
                    <a:pt x="29845" y="604521"/>
                    <a:pt x="33655" y="606426"/>
                  </a:cubicBezTo>
                  <a:cubicBezTo>
                    <a:pt x="38099" y="608966"/>
                    <a:pt x="43814" y="610236"/>
                    <a:pt x="52704" y="612776"/>
                  </a:cubicBezTo>
                  <a:cubicBezTo>
                    <a:pt x="63500" y="615951"/>
                    <a:pt x="73659" y="617856"/>
                    <a:pt x="81915" y="624841"/>
                  </a:cubicBezTo>
                  <a:lnTo>
                    <a:pt x="92427" y="648959"/>
                  </a:lnTo>
                  <a:lnTo>
                    <a:pt x="79454" y="677626"/>
                  </a:lnTo>
                  <a:cubicBezTo>
                    <a:pt x="71279" y="683738"/>
                    <a:pt x="60008" y="686436"/>
                    <a:pt x="47625" y="686436"/>
                  </a:cubicBezTo>
                  <a:cubicBezTo>
                    <a:pt x="29845" y="686436"/>
                    <a:pt x="10795" y="680721"/>
                    <a:pt x="0" y="664846"/>
                  </a:cubicBezTo>
                  <a:lnTo>
                    <a:pt x="16510" y="650241"/>
                  </a:lnTo>
                  <a:cubicBezTo>
                    <a:pt x="24129" y="659766"/>
                    <a:pt x="35560" y="664211"/>
                    <a:pt x="46989" y="664211"/>
                  </a:cubicBezTo>
                  <a:cubicBezTo>
                    <a:pt x="60325" y="664211"/>
                    <a:pt x="68579" y="657861"/>
                    <a:pt x="68579" y="649606"/>
                  </a:cubicBezTo>
                  <a:cubicBezTo>
                    <a:pt x="68579" y="646431"/>
                    <a:pt x="67310" y="642621"/>
                    <a:pt x="61595" y="640081"/>
                  </a:cubicBezTo>
                  <a:cubicBezTo>
                    <a:pt x="57150" y="638176"/>
                    <a:pt x="52069" y="636906"/>
                    <a:pt x="41909" y="634366"/>
                  </a:cubicBezTo>
                  <a:cubicBezTo>
                    <a:pt x="35560" y="633096"/>
                    <a:pt x="22860" y="629921"/>
                    <a:pt x="14605" y="623571"/>
                  </a:cubicBezTo>
                  <a:cubicBezTo>
                    <a:pt x="6349" y="617221"/>
                    <a:pt x="4444" y="607696"/>
                    <a:pt x="4444" y="599441"/>
                  </a:cubicBezTo>
                  <a:cubicBezTo>
                    <a:pt x="4444" y="574041"/>
                    <a:pt x="26034" y="563881"/>
                    <a:pt x="47625" y="563881"/>
                  </a:cubicBezTo>
                  <a:close/>
                  <a:moveTo>
                    <a:pt x="814070" y="560071"/>
                  </a:moveTo>
                  <a:cubicBezTo>
                    <a:pt x="820420" y="560071"/>
                    <a:pt x="824864" y="561341"/>
                    <a:pt x="830579" y="562611"/>
                  </a:cubicBezTo>
                  <a:lnTo>
                    <a:pt x="829945" y="562611"/>
                  </a:lnTo>
                  <a:lnTo>
                    <a:pt x="829945" y="581026"/>
                  </a:lnTo>
                  <a:cubicBezTo>
                    <a:pt x="824864" y="579756"/>
                    <a:pt x="821055" y="579121"/>
                    <a:pt x="818515" y="579121"/>
                  </a:cubicBezTo>
                  <a:cubicBezTo>
                    <a:pt x="810260" y="579121"/>
                    <a:pt x="808989" y="582296"/>
                    <a:pt x="808989" y="586741"/>
                  </a:cubicBezTo>
                  <a:lnTo>
                    <a:pt x="808989" y="594361"/>
                  </a:lnTo>
                  <a:lnTo>
                    <a:pt x="824230" y="594361"/>
                  </a:lnTo>
                  <a:lnTo>
                    <a:pt x="824230" y="615951"/>
                  </a:lnTo>
                  <a:lnTo>
                    <a:pt x="808989" y="615951"/>
                  </a:lnTo>
                  <a:lnTo>
                    <a:pt x="808989" y="684531"/>
                  </a:lnTo>
                  <a:lnTo>
                    <a:pt x="786765" y="684531"/>
                  </a:lnTo>
                  <a:lnTo>
                    <a:pt x="786765" y="615951"/>
                  </a:lnTo>
                  <a:lnTo>
                    <a:pt x="775970" y="615951"/>
                  </a:lnTo>
                  <a:lnTo>
                    <a:pt x="775970" y="594361"/>
                  </a:lnTo>
                  <a:lnTo>
                    <a:pt x="786765" y="594361"/>
                  </a:lnTo>
                  <a:lnTo>
                    <a:pt x="786765" y="583566"/>
                  </a:lnTo>
                  <a:cubicBezTo>
                    <a:pt x="786765" y="567691"/>
                    <a:pt x="795019" y="560071"/>
                    <a:pt x="814070" y="560071"/>
                  </a:cubicBezTo>
                  <a:close/>
                  <a:moveTo>
                    <a:pt x="957579" y="559436"/>
                  </a:moveTo>
                  <a:lnTo>
                    <a:pt x="957579" y="594361"/>
                  </a:lnTo>
                  <a:lnTo>
                    <a:pt x="979170" y="594361"/>
                  </a:lnTo>
                  <a:lnTo>
                    <a:pt x="979170" y="615951"/>
                  </a:lnTo>
                  <a:lnTo>
                    <a:pt x="957579" y="615951"/>
                  </a:lnTo>
                  <a:lnTo>
                    <a:pt x="957579" y="654051"/>
                  </a:lnTo>
                  <a:cubicBezTo>
                    <a:pt x="957579" y="661671"/>
                    <a:pt x="960754" y="664846"/>
                    <a:pt x="966470" y="664846"/>
                  </a:cubicBezTo>
                  <a:cubicBezTo>
                    <a:pt x="972185" y="664846"/>
                    <a:pt x="977900" y="661671"/>
                    <a:pt x="981075" y="658496"/>
                  </a:cubicBezTo>
                  <a:lnTo>
                    <a:pt x="977900" y="681356"/>
                  </a:lnTo>
                  <a:cubicBezTo>
                    <a:pt x="973454" y="685166"/>
                    <a:pt x="965200" y="686436"/>
                    <a:pt x="959485" y="686436"/>
                  </a:cubicBezTo>
                  <a:cubicBezTo>
                    <a:pt x="945515" y="686436"/>
                    <a:pt x="935355" y="676276"/>
                    <a:pt x="935355" y="659766"/>
                  </a:cubicBezTo>
                  <a:lnTo>
                    <a:pt x="935355" y="615951"/>
                  </a:lnTo>
                  <a:lnTo>
                    <a:pt x="922655" y="615951"/>
                  </a:lnTo>
                  <a:lnTo>
                    <a:pt x="922655" y="594361"/>
                  </a:lnTo>
                  <a:lnTo>
                    <a:pt x="935355" y="594361"/>
                  </a:lnTo>
                  <a:lnTo>
                    <a:pt x="935355" y="570866"/>
                  </a:lnTo>
                  <a:close/>
                  <a:moveTo>
                    <a:pt x="586739" y="559436"/>
                  </a:moveTo>
                  <a:lnTo>
                    <a:pt x="586739" y="600711"/>
                  </a:lnTo>
                  <a:cubicBezTo>
                    <a:pt x="591820" y="595631"/>
                    <a:pt x="597534" y="592456"/>
                    <a:pt x="607695" y="592456"/>
                  </a:cubicBezTo>
                  <a:cubicBezTo>
                    <a:pt x="631825" y="592456"/>
                    <a:pt x="639445" y="610871"/>
                    <a:pt x="639445" y="633731"/>
                  </a:cubicBezTo>
                  <a:lnTo>
                    <a:pt x="639445" y="684531"/>
                  </a:lnTo>
                  <a:lnTo>
                    <a:pt x="617220" y="684531"/>
                  </a:lnTo>
                  <a:lnTo>
                    <a:pt x="617220" y="635636"/>
                  </a:lnTo>
                  <a:cubicBezTo>
                    <a:pt x="617220" y="623571"/>
                    <a:pt x="614680" y="614681"/>
                    <a:pt x="601980" y="614681"/>
                  </a:cubicBezTo>
                  <a:cubicBezTo>
                    <a:pt x="589280" y="614681"/>
                    <a:pt x="586739" y="622936"/>
                    <a:pt x="586739" y="635001"/>
                  </a:cubicBezTo>
                  <a:lnTo>
                    <a:pt x="586739" y="684531"/>
                  </a:lnTo>
                  <a:lnTo>
                    <a:pt x="564515" y="684531"/>
                  </a:lnTo>
                  <a:lnTo>
                    <a:pt x="564515" y="570866"/>
                  </a:lnTo>
                  <a:close/>
                  <a:moveTo>
                    <a:pt x="529590" y="559436"/>
                  </a:moveTo>
                  <a:lnTo>
                    <a:pt x="529590" y="594361"/>
                  </a:lnTo>
                  <a:lnTo>
                    <a:pt x="550545" y="594361"/>
                  </a:lnTo>
                  <a:lnTo>
                    <a:pt x="550545" y="615951"/>
                  </a:lnTo>
                  <a:lnTo>
                    <a:pt x="529590" y="615951"/>
                  </a:lnTo>
                  <a:lnTo>
                    <a:pt x="529590" y="654051"/>
                  </a:lnTo>
                  <a:cubicBezTo>
                    <a:pt x="529590" y="661671"/>
                    <a:pt x="532765" y="664846"/>
                    <a:pt x="538480" y="664846"/>
                  </a:cubicBezTo>
                  <a:cubicBezTo>
                    <a:pt x="544195" y="664846"/>
                    <a:pt x="549275" y="661671"/>
                    <a:pt x="553084" y="658496"/>
                  </a:cubicBezTo>
                  <a:lnTo>
                    <a:pt x="549909" y="681356"/>
                  </a:lnTo>
                  <a:cubicBezTo>
                    <a:pt x="545465" y="685166"/>
                    <a:pt x="537209" y="686436"/>
                    <a:pt x="531495" y="686436"/>
                  </a:cubicBezTo>
                  <a:cubicBezTo>
                    <a:pt x="517525" y="686436"/>
                    <a:pt x="507364" y="676276"/>
                    <a:pt x="507364" y="659766"/>
                  </a:cubicBezTo>
                  <a:lnTo>
                    <a:pt x="507364" y="615951"/>
                  </a:lnTo>
                  <a:lnTo>
                    <a:pt x="491489" y="615951"/>
                  </a:lnTo>
                  <a:lnTo>
                    <a:pt x="491489" y="594361"/>
                  </a:lnTo>
                  <a:lnTo>
                    <a:pt x="507364" y="594361"/>
                  </a:lnTo>
                  <a:lnTo>
                    <a:pt x="507364" y="570866"/>
                  </a:lnTo>
                  <a:close/>
                  <a:moveTo>
                    <a:pt x="128269" y="559436"/>
                  </a:moveTo>
                  <a:lnTo>
                    <a:pt x="128269" y="600711"/>
                  </a:lnTo>
                  <a:cubicBezTo>
                    <a:pt x="133349" y="595631"/>
                    <a:pt x="139064" y="592456"/>
                    <a:pt x="149224" y="592456"/>
                  </a:cubicBezTo>
                  <a:cubicBezTo>
                    <a:pt x="173355" y="592456"/>
                    <a:pt x="180974" y="610871"/>
                    <a:pt x="180974" y="633731"/>
                  </a:cubicBezTo>
                  <a:lnTo>
                    <a:pt x="180974" y="684531"/>
                  </a:lnTo>
                  <a:lnTo>
                    <a:pt x="158750" y="684531"/>
                  </a:lnTo>
                  <a:lnTo>
                    <a:pt x="158750" y="635636"/>
                  </a:lnTo>
                  <a:cubicBezTo>
                    <a:pt x="158750" y="623571"/>
                    <a:pt x="156209" y="614681"/>
                    <a:pt x="143510" y="614681"/>
                  </a:cubicBezTo>
                  <a:cubicBezTo>
                    <a:pt x="130810" y="614681"/>
                    <a:pt x="128269" y="622936"/>
                    <a:pt x="128269" y="635001"/>
                  </a:cubicBezTo>
                  <a:lnTo>
                    <a:pt x="128269" y="684531"/>
                  </a:lnTo>
                  <a:lnTo>
                    <a:pt x="106045" y="684531"/>
                  </a:lnTo>
                  <a:lnTo>
                    <a:pt x="106045" y="570866"/>
                  </a:lnTo>
                  <a:close/>
                  <a:moveTo>
                    <a:pt x="269875" y="635"/>
                  </a:moveTo>
                  <a:lnTo>
                    <a:pt x="501015" y="635"/>
                  </a:lnTo>
                  <a:lnTo>
                    <a:pt x="554989" y="94615"/>
                  </a:lnTo>
                  <a:lnTo>
                    <a:pt x="391795" y="94615"/>
                  </a:lnTo>
                  <a:lnTo>
                    <a:pt x="391795" y="161925"/>
                  </a:lnTo>
                  <a:lnTo>
                    <a:pt x="539114" y="161925"/>
                  </a:lnTo>
                  <a:lnTo>
                    <a:pt x="539114" y="247650"/>
                  </a:lnTo>
                  <a:lnTo>
                    <a:pt x="391795" y="247650"/>
                  </a:lnTo>
                  <a:lnTo>
                    <a:pt x="391795" y="314325"/>
                  </a:lnTo>
                  <a:lnTo>
                    <a:pt x="595629" y="314325"/>
                  </a:lnTo>
                  <a:lnTo>
                    <a:pt x="595629" y="408305"/>
                  </a:lnTo>
                  <a:lnTo>
                    <a:pt x="269875" y="408305"/>
                  </a:lnTo>
                  <a:close/>
                  <a:moveTo>
                    <a:pt x="539114" y="0"/>
                  </a:moveTo>
                  <a:lnTo>
                    <a:pt x="674370" y="0"/>
                  </a:lnTo>
                  <a:lnTo>
                    <a:pt x="743584" y="132715"/>
                  </a:lnTo>
                  <a:lnTo>
                    <a:pt x="812799" y="0"/>
                  </a:lnTo>
                  <a:lnTo>
                    <a:pt x="946150" y="0"/>
                  </a:lnTo>
                  <a:lnTo>
                    <a:pt x="803275" y="246380"/>
                  </a:lnTo>
                  <a:lnTo>
                    <a:pt x="803275" y="407670"/>
                  </a:lnTo>
                  <a:lnTo>
                    <a:pt x="681355" y="407670"/>
                  </a:lnTo>
                  <a:lnTo>
                    <a:pt x="681355" y="246380"/>
                  </a:lnTo>
                  <a:close/>
                </a:path>
              </a:pathLst>
            </a:custGeom>
            <a:solidFill>
              <a:srgbClr val="FFFFFF"/>
            </a:solidFill>
            <a:ln w="63500" cap="flat">
              <a:noFill/>
              <a:prstDash val="solid"/>
              <a:miter/>
            </a:ln>
          </p:spPr>
          <p:txBody>
            <a:bodyPr rtlCol="0" anchor="ctr"/>
            <a:lstStyle/>
            <a:p>
              <a:endParaRPr lang="en-US" sz="1798"/>
            </a:p>
          </p:txBody>
        </p:sp>
      </p:grpSp>
      <p:grpSp>
        <p:nvGrpSpPr>
          <p:cNvPr id="2" name="Group 1">
            <a:extLst>
              <a:ext uri="{FF2B5EF4-FFF2-40B4-BE49-F238E27FC236}">
                <a16:creationId xmlns:a16="http://schemas.microsoft.com/office/drawing/2014/main" id="{7E7E8938-439A-DB5B-B3DF-7EF202013D57}"/>
              </a:ext>
            </a:extLst>
          </p:cNvPr>
          <p:cNvGrpSpPr/>
          <p:nvPr userDrawn="1"/>
        </p:nvGrpSpPr>
        <p:grpSpPr>
          <a:xfrm>
            <a:off x="485777"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sz="1798"/>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sz="1798"/>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9"/>
            <a:ext cx="4907628" cy="511939"/>
          </a:xfrm>
          <a:prstGeom prst="rect">
            <a:avLst/>
          </a:prstGeom>
        </p:spPr>
        <p:txBody>
          <a:bodyPr wrap="square">
            <a:noAutofit/>
          </a:bodyPr>
          <a:lstStyle>
            <a:lvl1pPr marL="0" indent="0" algn="l">
              <a:buNone/>
              <a:defRPr lang="en-GB" sz="1598" kern="1200" dirty="0">
                <a:solidFill>
                  <a:schemeClr val="tx1"/>
                </a:solidFill>
                <a:latin typeface="+mj-lt"/>
                <a:ea typeface="+mn-ea"/>
                <a:cs typeface="+mn-cs"/>
              </a:defRPr>
            </a:lvl1pPr>
            <a:lvl2pPr marL="456743" indent="0" algn="ctr">
              <a:buNone/>
              <a:defRPr sz="1998"/>
            </a:lvl2pPr>
            <a:lvl3pPr marL="913486" indent="0" algn="ctr">
              <a:buNone/>
              <a:defRPr sz="1798"/>
            </a:lvl3pPr>
            <a:lvl4pPr marL="1370229" indent="0" algn="ctr">
              <a:buNone/>
              <a:defRPr sz="1598"/>
            </a:lvl4pPr>
            <a:lvl5pPr marL="1826972" indent="0" algn="ctr">
              <a:buNone/>
              <a:defRPr sz="1598"/>
            </a:lvl5pPr>
            <a:lvl6pPr marL="2283715" indent="0" algn="ctr">
              <a:buNone/>
              <a:defRPr sz="1598"/>
            </a:lvl6pPr>
            <a:lvl7pPr marL="2740457" indent="0" algn="ctr">
              <a:buNone/>
              <a:defRPr sz="1598"/>
            </a:lvl7pPr>
            <a:lvl8pPr marL="3197201" indent="0" algn="ctr">
              <a:buNone/>
              <a:defRPr sz="1598"/>
            </a:lvl8pPr>
            <a:lvl9pPr marL="3653943" indent="0" algn="ctr">
              <a:buNone/>
              <a:defRPr sz="1598"/>
            </a:lvl9pPr>
          </a:lstStyle>
          <a:p>
            <a:r>
              <a:rPr lang="en-IN"/>
              <a:t>Proposal to provide </a:t>
            </a:r>
            <a:br>
              <a:rPr lang="en-IN"/>
            </a:br>
            <a:r>
              <a:rPr lang="en-IN"/>
              <a:t>audit services</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hasCustomPrompt="1"/>
          </p:nvPr>
        </p:nvSpPr>
        <p:spPr>
          <a:xfrm>
            <a:off x="889762" y="2698752"/>
            <a:ext cx="4906009" cy="1654043"/>
          </a:xfrm>
        </p:spPr>
        <p:txBody>
          <a:bodyPr anchor="t">
            <a:noAutofit/>
          </a:bodyPr>
          <a:lstStyle>
            <a:lvl1pPr>
              <a:defRPr sz="4196" b="1" i="0">
                <a:solidFill>
                  <a:schemeClr val="tx1"/>
                </a:solidFill>
                <a:latin typeface="EYInterstate Regular" panose="02000503020000020004" pitchFamily="2" charset="0"/>
              </a:defRPr>
            </a:lvl1pPr>
          </a:lstStyle>
          <a:p>
            <a:r>
              <a:rPr lang="en-GB"/>
              <a:t>National Research Foundation, Singapore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hasCustomPrompt="1"/>
          </p:nvPr>
        </p:nvSpPr>
        <p:spPr>
          <a:xfrm>
            <a:off x="889764" y="5047487"/>
            <a:ext cx="4906010" cy="338426"/>
          </a:xfrm>
          <a:prstGeom prst="rect">
            <a:avLst/>
          </a:prstGeom>
        </p:spPr>
        <p:txBody>
          <a:bodyPr wrap="square">
            <a:spAutoFit/>
          </a:bodyPr>
          <a:lstStyle>
            <a:lvl1pPr marL="0" indent="0">
              <a:buNone/>
              <a:defRPr sz="1598" b="1">
                <a:solidFill>
                  <a:schemeClr val="tx1"/>
                </a:solidFill>
                <a:latin typeface="+mj-lt"/>
              </a:defRPr>
            </a:lvl1pPr>
            <a:lvl2pPr marL="251748" indent="0">
              <a:buNone/>
              <a:defRPr sz="1598" b="1">
                <a:latin typeface="+mj-lt"/>
              </a:defRPr>
            </a:lvl2pPr>
            <a:lvl3pPr marL="503496" indent="0">
              <a:buNone/>
              <a:defRPr sz="1598" b="1">
                <a:latin typeface="+mj-lt"/>
              </a:defRPr>
            </a:lvl3pPr>
            <a:lvl4pPr marL="755244" indent="0">
              <a:buNone/>
              <a:defRPr sz="1598" b="1">
                <a:latin typeface="+mj-lt"/>
              </a:defRPr>
            </a:lvl4pPr>
            <a:lvl5pPr marL="1006992" indent="0">
              <a:buNone/>
              <a:defRPr sz="1598" b="1">
                <a:latin typeface="+mj-lt"/>
              </a:defRPr>
            </a:lvl5pPr>
          </a:lstStyle>
          <a:p>
            <a:pPr lvl="0"/>
            <a:r>
              <a:rPr lang="en-GB"/>
              <a:t>9 December, 2024</a:t>
            </a:r>
          </a:p>
        </p:txBody>
      </p:sp>
      <p:grpSp>
        <p:nvGrpSpPr>
          <p:cNvPr id="5" name="Group 4">
            <a:extLst>
              <a:ext uri="{FF2B5EF4-FFF2-40B4-BE49-F238E27FC236}">
                <a16:creationId xmlns:a16="http://schemas.microsoft.com/office/drawing/2014/main" id="{EFDFD624-ABC7-16CB-2121-0206B09686AF}"/>
              </a:ext>
            </a:extLst>
          </p:cNvPr>
          <p:cNvGrpSpPr/>
          <p:nvPr userDrawn="1"/>
        </p:nvGrpSpPr>
        <p:grpSpPr>
          <a:xfrm>
            <a:off x="485521" y="1291011"/>
            <a:ext cx="5703140" cy="4360545"/>
            <a:chOff x="485774" y="1291008"/>
            <a:chExt cx="5706110" cy="4360545"/>
          </a:xfrm>
        </p:grpSpPr>
        <p:sp>
          <p:nvSpPr>
            <p:cNvPr id="8" name="Freeform 25">
              <a:extLst>
                <a:ext uri="{FF2B5EF4-FFF2-40B4-BE49-F238E27FC236}">
                  <a16:creationId xmlns:a16="http://schemas.microsoft.com/office/drawing/2014/main" id="{D786720D-4321-57A7-7170-C630C1D4DEE7}"/>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sz="1798"/>
            </a:p>
          </p:txBody>
        </p:sp>
        <p:sp>
          <p:nvSpPr>
            <p:cNvPr id="9" name="Freeform 3">
              <a:extLst>
                <a:ext uri="{FF2B5EF4-FFF2-40B4-BE49-F238E27FC236}">
                  <a16:creationId xmlns:a16="http://schemas.microsoft.com/office/drawing/2014/main" id="{04AD9603-C6AC-198D-5649-C31F6250A7A1}"/>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00C864"/>
                </a:gs>
                <a:gs pos="100000">
                  <a:srgbClr val="4696FF"/>
                </a:gs>
              </a:gsLst>
              <a:lin ang="18600000" scaled="0"/>
              <a:tileRect/>
            </a:gradFill>
            <a:ln w="8181" cap="flat">
              <a:noFill/>
              <a:prstDash val="solid"/>
              <a:miter/>
            </a:ln>
          </p:spPr>
          <p:txBody>
            <a:bodyPr rtlCol="0" anchor="ctr"/>
            <a:lstStyle/>
            <a:p>
              <a:pPr lvl="0"/>
              <a:endParaRPr lang="en-US" sz="1798"/>
            </a:p>
          </p:txBody>
        </p:sp>
      </p:grpSp>
    </p:spTree>
    <p:extLst>
      <p:ext uri="{BB962C8B-B14F-4D97-AF65-F5344CB8AC3E}">
        <p14:creationId xmlns:p14="http://schemas.microsoft.com/office/powerpoint/2010/main" val="608787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817720" y="369888"/>
            <a:ext cx="10890905" cy="470898"/>
          </a:xfrm>
        </p:spPr>
        <p:txBody>
          <a:bodyPr/>
          <a:lstStyle>
            <a:lvl1pPr>
              <a:defRPr sz="1999" b="1">
                <a:solidFill>
                  <a:schemeClr val="bg1"/>
                </a:solidFill>
                <a:latin typeface="+mn-lt"/>
              </a:defRPr>
            </a:lvl1pPr>
          </a:lstStyle>
          <a:p>
            <a:r>
              <a:rPr lang="en-US"/>
              <a:t>Click to edit Master title style</a:t>
            </a:r>
          </a:p>
        </p:txBody>
      </p:sp>
    </p:spTree>
    <p:extLst>
      <p:ext uri="{BB962C8B-B14F-4D97-AF65-F5344CB8AC3E}">
        <p14:creationId xmlns:p14="http://schemas.microsoft.com/office/powerpoint/2010/main" val="601892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0898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Cover Let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3861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oiler plat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A5033F-6B58-4D17-B6AF-511A209D0DC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C77B58DA-C741-4F1C-9834-41B7C149DAEB}"/>
              </a:ext>
            </a:extLst>
          </p:cNvPr>
          <p:cNvSpPr txBox="1"/>
          <p:nvPr userDrawn="1"/>
        </p:nvSpPr>
        <p:spPr>
          <a:xfrm>
            <a:off x="567500" y="408825"/>
            <a:ext cx="4196826" cy="3414544"/>
          </a:xfrm>
          <a:prstGeom prst="rect">
            <a:avLst/>
          </a:prstGeom>
          <a:noFill/>
        </p:spPr>
        <p:txBody>
          <a:bodyPr wrap="square" lIns="0" tIns="28080" rIns="0" bIns="28080" rtlCol="0">
            <a:spAutoFit/>
          </a:bodyPr>
          <a:lstStyle/>
          <a:p>
            <a:pPr defTabSz="536340" fontAlgn="auto">
              <a:spcBef>
                <a:spcPts val="0"/>
              </a:spcBef>
              <a:spcAft>
                <a:spcPts val="987"/>
              </a:spcAft>
              <a:buClrTx/>
              <a:buSzTx/>
              <a:buFontTx/>
              <a:buNone/>
            </a:pPr>
            <a:r>
              <a:rPr lang="en-IN" sz="907" b="1">
                <a:solidFill>
                  <a:srgbClr val="FFFFFF"/>
                </a:solidFill>
                <a:latin typeface="EYInterstate Light"/>
                <a:cs typeface="Arial" charset="0"/>
              </a:rPr>
              <a:t>EY | Building a better working world</a:t>
            </a:r>
            <a:endParaRPr lang="en-IN" sz="907">
              <a:solidFill>
                <a:srgbClr val="FFFFFF"/>
              </a:solidFill>
              <a:latin typeface="EYInterstate Light"/>
              <a:cs typeface="Arial" charset="0"/>
            </a:endParaRPr>
          </a:p>
          <a:p>
            <a:pPr defTabSz="536340" fontAlgn="auto">
              <a:spcBef>
                <a:spcPts val="272"/>
              </a:spcBef>
              <a:spcAft>
                <a:spcPts val="272"/>
              </a:spcAft>
              <a:buClrTx/>
              <a:buSzTx/>
              <a:buFontTx/>
              <a:buNone/>
            </a:pPr>
            <a:r>
              <a:rPr lang="en-IN" sz="726" b="1">
                <a:solidFill>
                  <a:srgbClr val="FFFFFF"/>
                </a:solidFill>
                <a:latin typeface="EYInterstate Light"/>
                <a:cs typeface="Arial" charset="0"/>
              </a:rPr>
              <a:t>EY exists to build a better working world, helping to create long-term value for clients, people and society and build trust in the capital markets.</a:t>
            </a:r>
          </a:p>
          <a:p>
            <a:pPr defTabSz="536340" fontAlgn="auto">
              <a:spcBef>
                <a:spcPts val="272"/>
              </a:spcBef>
              <a:spcAft>
                <a:spcPts val="272"/>
              </a:spcAft>
              <a:buClrTx/>
              <a:buSzTx/>
              <a:buFontTx/>
              <a:buNone/>
            </a:pPr>
            <a:r>
              <a:rPr lang="en-IN" sz="726" b="1">
                <a:solidFill>
                  <a:srgbClr val="FFFFFF"/>
                </a:solidFill>
                <a:latin typeface="EYInterstate Light"/>
                <a:cs typeface="Arial" charset="0"/>
              </a:rPr>
              <a:t>Enabled by data and technology, diverse EY teams in over 150 countries provide trust through assurance and help clients grow, transform </a:t>
            </a:r>
            <a:br>
              <a:rPr lang="en-IN" sz="726" b="1">
                <a:solidFill>
                  <a:srgbClr val="FFFFFF"/>
                </a:solidFill>
                <a:latin typeface="EYInterstate Light"/>
                <a:cs typeface="Arial" charset="0"/>
              </a:rPr>
            </a:br>
            <a:r>
              <a:rPr lang="en-IN" sz="726" b="1">
                <a:solidFill>
                  <a:srgbClr val="FFFFFF"/>
                </a:solidFill>
                <a:latin typeface="EYInterstate Light"/>
                <a:cs typeface="Arial" charset="0"/>
              </a:rPr>
              <a:t>and operate.</a:t>
            </a:r>
          </a:p>
          <a:p>
            <a:pPr defTabSz="536340" fontAlgn="auto">
              <a:spcBef>
                <a:spcPts val="272"/>
              </a:spcBef>
              <a:spcAft>
                <a:spcPts val="272"/>
              </a:spcAft>
              <a:buClrTx/>
              <a:buSzTx/>
              <a:buFontTx/>
              <a:buNone/>
            </a:pPr>
            <a:r>
              <a:rPr lang="en-IN" sz="726" b="1">
                <a:solidFill>
                  <a:srgbClr val="FFFFFF"/>
                </a:solidFill>
                <a:latin typeface="EYInterstate Light"/>
                <a:cs typeface="Arial" charset="0"/>
              </a:rPr>
              <a:t>Working across assurance, consulting, law, strategy, tax and transactions, </a:t>
            </a:r>
            <a:br>
              <a:rPr lang="en-IN" sz="726" b="1">
                <a:solidFill>
                  <a:srgbClr val="FFFFFF"/>
                </a:solidFill>
                <a:latin typeface="EYInterstate Light"/>
                <a:cs typeface="Arial" charset="0"/>
              </a:rPr>
            </a:br>
            <a:r>
              <a:rPr lang="en-IN" sz="726" b="1">
                <a:solidFill>
                  <a:srgbClr val="FFFFFF"/>
                </a:solidFill>
                <a:latin typeface="EYInterstate Light"/>
                <a:cs typeface="Arial" charset="0"/>
              </a:rPr>
              <a:t>EY teams ask better questions to find new answers for the complex issues facing our world today.</a:t>
            </a:r>
          </a:p>
          <a:p>
            <a:pPr defTabSz="536340" fontAlgn="auto">
              <a:spcBef>
                <a:spcPts val="0"/>
              </a:spcBef>
              <a:spcAft>
                <a:spcPts val="0"/>
              </a:spcAft>
              <a:buClrTx/>
              <a:buSzTx/>
              <a:buFontTx/>
              <a:buNone/>
            </a:pPr>
            <a:endParaRPr lang="en-IN" sz="726" b="1">
              <a:solidFill>
                <a:srgbClr val="FFFFFF"/>
              </a:solidFill>
              <a:latin typeface="EYInterstate Light"/>
              <a:cs typeface="Arial" charset="0"/>
            </a:endParaRPr>
          </a:p>
          <a:p>
            <a:pPr defTabSz="536340" fontAlgn="auto">
              <a:spcBef>
                <a:spcPts val="0"/>
              </a:spcBef>
              <a:spcAft>
                <a:spcPts val="0"/>
              </a:spcAft>
              <a:buClrTx/>
              <a:buSzTx/>
              <a:buFontTx/>
              <a:buNone/>
            </a:pPr>
            <a:r>
              <a:rPr lang="en-IN" sz="726">
                <a:solidFill>
                  <a:srgbClr val="FFFFFF"/>
                </a:solidFill>
                <a:latin typeface="EYInterstate Light"/>
                <a:cs typeface="Arial" charset="0"/>
              </a:rPr>
              <a:t>EY refers to the global organisation, and may refer to one or more, of the member firms of Ernst &amp; Young Global Limited, each of which is a separate legal entity. Ernst &amp; Young Global Limited, a UK company limited by guarantee, does not provide services to clients. Information about how EY collects and uses personal data and a description of the rights individuals have under data protection legislation are available via ey.com/privacy. EY member firms do </a:t>
            </a:r>
            <a:br>
              <a:rPr lang="en-IN" sz="726">
                <a:solidFill>
                  <a:srgbClr val="FFFFFF"/>
                </a:solidFill>
                <a:latin typeface="EYInterstate Light"/>
                <a:cs typeface="Arial" charset="0"/>
              </a:rPr>
            </a:br>
            <a:r>
              <a:rPr lang="en-IN" sz="726">
                <a:solidFill>
                  <a:srgbClr val="FFFFFF"/>
                </a:solidFill>
                <a:latin typeface="EYInterstate Light"/>
                <a:cs typeface="Arial" charset="0"/>
              </a:rPr>
              <a:t>not practice law where prohibited by local laws. For more information about </a:t>
            </a:r>
            <a:br>
              <a:rPr lang="en-IN" sz="726">
                <a:solidFill>
                  <a:srgbClr val="FFFFFF"/>
                </a:solidFill>
                <a:latin typeface="EYInterstate Light"/>
                <a:cs typeface="Arial" charset="0"/>
              </a:rPr>
            </a:br>
            <a:r>
              <a:rPr lang="en-IN" sz="726">
                <a:solidFill>
                  <a:srgbClr val="FFFFFF"/>
                </a:solidFill>
                <a:latin typeface="EYInterstate Light"/>
                <a:cs typeface="Arial" charset="0"/>
              </a:rPr>
              <a:t>our organisation, please visit ey.com.</a:t>
            </a:r>
          </a:p>
          <a:p>
            <a:pPr defTabSz="536340" fontAlgn="auto">
              <a:spcBef>
                <a:spcPts val="0"/>
              </a:spcBef>
              <a:spcAft>
                <a:spcPts val="0"/>
              </a:spcAft>
              <a:buClrTx/>
              <a:buSzTx/>
              <a:buFontTx/>
              <a:buNone/>
            </a:pPr>
            <a:endParaRPr lang="en-IN" sz="726">
              <a:solidFill>
                <a:srgbClr val="FFFFFF"/>
              </a:solidFill>
              <a:latin typeface="EYInterstate Light"/>
              <a:cs typeface="Arial" charset="0"/>
            </a:endParaRPr>
          </a:p>
          <a:p>
            <a:pPr defTabSz="536340" fontAlgn="auto">
              <a:spcBef>
                <a:spcPts val="0"/>
              </a:spcBef>
              <a:spcAft>
                <a:spcPts val="493"/>
              </a:spcAft>
              <a:buClrTx/>
              <a:buSzTx/>
              <a:buFontTx/>
              <a:buNone/>
            </a:pPr>
            <a:r>
              <a:rPr lang="en-IN" sz="726">
                <a:solidFill>
                  <a:srgbClr val="FFFFFF"/>
                </a:solidFill>
                <a:latin typeface="EYInterstate Light"/>
                <a:cs typeface="Arial" charset="0"/>
              </a:rPr>
              <a:t>© 2021 EYGM Limited.</a:t>
            </a:r>
            <a:br>
              <a:rPr lang="en-IN" sz="726">
                <a:solidFill>
                  <a:srgbClr val="FFFFFF"/>
                </a:solidFill>
                <a:latin typeface="EYInterstate Light"/>
                <a:cs typeface="Arial" charset="0"/>
              </a:rPr>
            </a:br>
            <a:r>
              <a:rPr lang="en-IN" sz="726">
                <a:solidFill>
                  <a:srgbClr val="FFFFFF"/>
                </a:solidFill>
                <a:latin typeface="EYInterstate Light"/>
                <a:cs typeface="Arial" charset="0"/>
              </a:rPr>
              <a:t>All Rights Reserved.</a:t>
            </a:r>
          </a:p>
          <a:p>
            <a:pPr defTabSz="536340" fontAlgn="auto">
              <a:spcBef>
                <a:spcPts val="0"/>
              </a:spcBef>
              <a:spcAft>
                <a:spcPts val="493"/>
              </a:spcAft>
              <a:buClrTx/>
              <a:buSzTx/>
              <a:buFontTx/>
              <a:buNone/>
            </a:pPr>
            <a:r>
              <a:rPr lang="en-IN" sz="726">
                <a:solidFill>
                  <a:srgbClr val="FFFFFF"/>
                </a:solidFill>
                <a:latin typeface="EYInterstate Light"/>
                <a:cs typeface="Arial" charset="0"/>
              </a:rPr>
              <a:t>XXXXX-XXXGbl</a:t>
            </a:r>
            <a:br>
              <a:rPr lang="en-IN" sz="726">
                <a:solidFill>
                  <a:srgbClr val="FFFFFF"/>
                </a:solidFill>
                <a:latin typeface="EYInterstate Light"/>
                <a:cs typeface="Arial" charset="0"/>
              </a:rPr>
            </a:br>
            <a:r>
              <a:rPr lang="en-IN" sz="726">
                <a:solidFill>
                  <a:srgbClr val="FFFFFF"/>
                </a:solidFill>
                <a:latin typeface="EYInterstate Light"/>
                <a:cs typeface="Arial" charset="0"/>
              </a:rPr>
              <a:t>ED MMYY</a:t>
            </a:r>
          </a:p>
          <a:p>
            <a:pPr defTabSz="536340" fontAlgn="auto">
              <a:spcBef>
                <a:spcPts val="0"/>
              </a:spcBef>
              <a:spcAft>
                <a:spcPts val="493"/>
              </a:spcAft>
              <a:buClrTx/>
              <a:buSzTx/>
              <a:buFontTx/>
              <a:buNone/>
            </a:pPr>
            <a:r>
              <a:rPr lang="en-IN" sz="635">
                <a:solidFill>
                  <a:srgbClr val="FFFFFF"/>
                </a:solidFill>
                <a:latin typeface="EYInterstate Light"/>
                <a:cs typeface="Arial" charset="0"/>
              </a:rPr>
              <a:t>This material has been prepared for general informational purposes only and is not intended to be relied upon as accounting, tax, legal or other professional advice. </a:t>
            </a:r>
            <a:br>
              <a:rPr lang="en-IN" sz="635">
                <a:solidFill>
                  <a:srgbClr val="FFFFFF"/>
                </a:solidFill>
                <a:latin typeface="EYInterstate Light"/>
                <a:cs typeface="Arial" charset="0"/>
              </a:rPr>
            </a:br>
            <a:r>
              <a:rPr lang="en-IN" sz="635">
                <a:solidFill>
                  <a:srgbClr val="FFFFFF"/>
                </a:solidFill>
                <a:latin typeface="EYInterstate Light"/>
                <a:cs typeface="Arial" charset="0"/>
              </a:rPr>
              <a:t>Please refer to your advisors for specific advice.</a:t>
            </a:r>
          </a:p>
          <a:p>
            <a:pPr defTabSz="536340" fontAlgn="auto">
              <a:spcBef>
                <a:spcPts val="0"/>
              </a:spcBef>
              <a:spcAft>
                <a:spcPts val="493"/>
              </a:spcAft>
              <a:buClrTx/>
              <a:buSzTx/>
              <a:buFontTx/>
              <a:buNone/>
            </a:pPr>
            <a:r>
              <a:rPr lang="en-IN" sz="907" b="1">
                <a:solidFill>
                  <a:srgbClr val="FFFFFF"/>
                </a:solidFill>
                <a:latin typeface="EYInterstate Light"/>
                <a:cs typeface="Arial" charset="0"/>
              </a:rPr>
              <a:t>ey.com</a:t>
            </a:r>
          </a:p>
        </p:txBody>
      </p:sp>
    </p:spTree>
    <p:extLst>
      <p:ext uri="{BB962C8B-B14F-4D97-AF65-F5344CB8AC3E}">
        <p14:creationId xmlns:p14="http://schemas.microsoft.com/office/powerpoint/2010/main" val="3495270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1_Final legal text">
    <p:spTree>
      <p:nvGrpSpPr>
        <p:cNvPr id="1" name=""/>
        <p:cNvGrpSpPr/>
        <p:nvPr/>
      </p:nvGrpSpPr>
      <p:grpSpPr>
        <a:xfrm>
          <a:off x="0" y="0"/>
          <a:ext cx="0" cy="0"/>
          <a:chOff x="0" y="0"/>
          <a:chExt cx="0" cy="0"/>
        </a:xfrm>
      </p:grpSpPr>
      <p:pic>
        <p:nvPicPr>
          <p:cNvPr id="5" name="Content Placeholder 3">
            <a:extLst>
              <a:ext uri="{FF2B5EF4-FFF2-40B4-BE49-F238E27FC236}">
                <a16:creationId xmlns:a16="http://schemas.microsoft.com/office/drawing/2014/main" id="{501A2F11-32A0-4526-A5F7-F4382DA5B47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 y="0"/>
            <a:ext cx="12195203" cy="6858000"/>
          </a:xfrm>
          <a:prstGeom prst="rect">
            <a:avLst/>
          </a:prstGeom>
        </p:spPr>
      </p:pic>
      <p:sp>
        <p:nvSpPr>
          <p:cNvPr id="8" name="Content Placeholder 2"/>
          <p:cNvSpPr>
            <a:spLocks noGrp="1"/>
          </p:cNvSpPr>
          <p:nvPr>
            <p:ph idx="1"/>
          </p:nvPr>
        </p:nvSpPr>
        <p:spPr>
          <a:xfrm>
            <a:off x="607483" y="719139"/>
            <a:ext cx="4675200" cy="5210062"/>
          </a:xfrm>
        </p:spPr>
        <p:txBody>
          <a:bodyPr/>
          <a:lstStyle>
            <a:lvl1pPr marL="0" indent="0" algn="l" defTabSz="993374" rtl="0" fontAlgn="base">
              <a:lnSpc>
                <a:spcPct val="100000"/>
              </a:lnSpc>
              <a:spcBef>
                <a:spcPct val="70000"/>
              </a:spcBef>
              <a:spcAft>
                <a:spcPct val="0"/>
              </a:spcAft>
              <a:buSzPct val="100000"/>
              <a:buNone/>
              <a:defRPr lang="en-US" sz="1196" kern="1200" noProof="0" dirty="0" smtClean="0">
                <a:solidFill>
                  <a:schemeClr val="bg1"/>
                </a:solidFill>
                <a:latin typeface="EYInterstate Light" panose="02000506000000020004" pitchFamily="2" charset="0"/>
                <a:ea typeface="+mn-ea"/>
                <a:cs typeface="Arial" pitchFamily="34" charset="0"/>
              </a:defRPr>
            </a:lvl1pPr>
            <a:lvl2pPr marL="0" indent="0" algn="l" defTabSz="993374"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5861" indent="-175861" algn="l" defTabSz="993374"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3374"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537" indent="-188537" algn="l" defTabSz="993374"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Box 4">
            <a:extLst>
              <a:ext uri="{FF2B5EF4-FFF2-40B4-BE49-F238E27FC236}">
                <a16:creationId xmlns:a16="http://schemas.microsoft.com/office/drawing/2014/main" id="{DC404FD5-CD8E-E8D9-F922-DDC9480787DF}"/>
              </a:ext>
            </a:extLst>
          </p:cNvPr>
          <p:cNvSpPr txBox="1">
            <a:spLocks noChangeArrowheads="1"/>
          </p:cNvSpPr>
          <p:nvPr userDrawn="1"/>
        </p:nvSpPr>
        <p:spPr bwMode="auto">
          <a:xfrm>
            <a:off x="9142876" y="6509803"/>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2523"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503876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CV Layout Customized">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9812EBAB-D391-CFDC-13DD-B385F520C5CB}"/>
              </a:ext>
            </a:extLst>
          </p:cNvPr>
          <p:cNvGrpSpPr/>
          <p:nvPr userDrawn="1"/>
        </p:nvGrpSpPr>
        <p:grpSpPr>
          <a:xfrm>
            <a:off x="-5" y="-77266"/>
            <a:ext cx="2042055" cy="6173266"/>
            <a:chOff x="-6" y="-77266"/>
            <a:chExt cx="2043119" cy="6173266"/>
          </a:xfrm>
        </p:grpSpPr>
        <p:sp>
          <p:nvSpPr>
            <p:cNvPr id="33" name="Rectangle: Top Corners Rounded 32">
              <a:extLst>
                <a:ext uri="{FF2B5EF4-FFF2-40B4-BE49-F238E27FC236}">
                  <a16:creationId xmlns:a16="http://schemas.microsoft.com/office/drawing/2014/main" id="{9AE40BE5-C84A-E323-E7ED-369A2A616F6F}"/>
                </a:ext>
              </a:extLst>
            </p:cNvPr>
            <p:cNvSpPr/>
            <p:nvPr/>
          </p:nvSpPr>
          <p:spPr>
            <a:xfrm rot="5400000" flipH="1">
              <a:off x="-10459" y="10451"/>
              <a:ext cx="1436558" cy="1415651"/>
            </a:xfrm>
            <a:prstGeom prst="round2SameRect">
              <a:avLst>
                <a:gd name="adj1" fmla="val 39899"/>
                <a:gd name="adj2" fmla="val 0"/>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sz="1199">
                <a:solidFill>
                  <a:schemeClr val="tx1"/>
                </a:solidFill>
              </a:endParaRPr>
            </a:p>
          </p:txBody>
        </p:sp>
        <p:sp>
          <p:nvSpPr>
            <p:cNvPr id="12" name="Oval 11">
              <a:extLst>
                <a:ext uri="{FF2B5EF4-FFF2-40B4-BE49-F238E27FC236}">
                  <a16:creationId xmlns:a16="http://schemas.microsoft.com/office/drawing/2014/main" id="{857DF79D-1BF3-A0D5-A6C4-2D4B6AC0792F}"/>
                </a:ext>
              </a:extLst>
            </p:cNvPr>
            <p:cNvSpPr/>
            <p:nvPr/>
          </p:nvSpPr>
          <p:spPr>
            <a:xfrm>
              <a:off x="614234" y="94088"/>
              <a:ext cx="1257524" cy="1257524"/>
            </a:xfrm>
            <a:prstGeom prst="ellipse">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21" name="Oval 20">
              <a:extLst>
                <a:ext uri="{FF2B5EF4-FFF2-40B4-BE49-F238E27FC236}">
                  <a16:creationId xmlns:a16="http://schemas.microsoft.com/office/drawing/2014/main" id="{AE5EC2D6-847B-FE0F-7B85-F46734F17D9B}"/>
                </a:ext>
              </a:extLst>
            </p:cNvPr>
            <p:cNvSpPr/>
            <p:nvPr/>
          </p:nvSpPr>
          <p:spPr>
            <a:xfrm>
              <a:off x="689215" y="169069"/>
              <a:ext cx="1107562" cy="1107562"/>
            </a:xfrm>
            <a:prstGeom prst="ellipse">
              <a:avLst/>
            </a:prstGeom>
            <a:solidFill>
              <a:schemeClr val="tx1"/>
            </a:solidFill>
            <a:ln w="9525">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nvGrpSpPr>
            <p:cNvPr id="22" name="Group 21">
              <a:extLst>
                <a:ext uri="{FF2B5EF4-FFF2-40B4-BE49-F238E27FC236}">
                  <a16:creationId xmlns:a16="http://schemas.microsoft.com/office/drawing/2014/main" id="{8793D005-5AAC-E733-B98B-91ADE23E5107}"/>
                </a:ext>
              </a:extLst>
            </p:cNvPr>
            <p:cNvGrpSpPr/>
            <p:nvPr/>
          </p:nvGrpSpPr>
          <p:grpSpPr>
            <a:xfrm>
              <a:off x="442879" y="-77266"/>
              <a:ext cx="1600234" cy="1600232"/>
              <a:chOff x="5498848" y="-575061"/>
              <a:chExt cx="7109195" cy="7109186"/>
            </a:xfrm>
          </p:grpSpPr>
          <p:sp>
            <p:nvSpPr>
              <p:cNvPr id="42" name="Arc 41">
                <a:extLst>
                  <a:ext uri="{FF2B5EF4-FFF2-40B4-BE49-F238E27FC236}">
                    <a16:creationId xmlns:a16="http://schemas.microsoft.com/office/drawing/2014/main" id="{5E5E1A32-9716-4370-069E-B8197F317EDA}"/>
                  </a:ext>
                </a:extLst>
              </p:cNvPr>
              <p:cNvSpPr>
                <a:spLocks/>
              </p:cNvSpPr>
              <p:nvPr/>
            </p:nvSpPr>
            <p:spPr>
              <a:xfrm rot="5400000" flipV="1">
                <a:off x="5498853" y="-575068"/>
                <a:ext cx="7109186" cy="7109195"/>
              </a:xfrm>
              <a:prstGeom prst="arc">
                <a:avLst>
                  <a:gd name="adj1" fmla="val 14437759"/>
                  <a:gd name="adj2" fmla="val 18515158"/>
                </a:avLst>
              </a:prstGeom>
              <a:noFill/>
              <a:ln w="25400" cap="rnd" cmpd="sng" algn="ctr">
                <a:solidFill>
                  <a:srgbClr val="747480"/>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sp>
            <p:nvSpPr>
              <p:cNvPr id="43" name="Arc 42">
                <a:extLst>
                  <a:ext uri="{FF2B5EF4-FFF2-40B4-BE49-F238E27FC236}">
                    <a16:creationId xmlns:a16="http://schemas.microsoft.com/office/drawing/2014/main" id="{323C691A-7838-E966-8152-40D444F7E87E}"/>
                  </a:ext>
                </a:extLst>
              </p:cNvPr>
              <p:cNvSpPr>
                <a:spLocks/>
              </p:cNvSpPr>
              <p:nvPr/>
            </p:nvSpPr>
            <p:spPr>
              <a:xfrm rot="5400000" flipV="1">
                <a:off x="5942318" y="-162074"/>
                <a:ext cx="6242569" cy="6242569"/>
              </a:xfrm>
              <a:prstGeom prst="arc">
                <a:avLst>
                  <a:gd name="adj1" fmla="val 12532502"/>
                  <a:gd name="adj2" fmla="val 16531938"/>
                </a:avLst>
              </a:prstGeom>
              <a:noFill/>
              <a:ln w="25400" cap="rnd" cmpd="sng" algn="ctr">
                <a:solidFill>
                  <a:srgbClr val="C4C4CD"/>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sp>
            <p:nvSpPr>
              <p:cNvPr id="44" name="Arc 43">
                <a:extLst>
                  <a:ext uri="{FF2B5EF4-FFF2-40B4-BE49-F238E27FC236}">
                    <a16:creationId xmlns:a16="http://schemas.microsoft.com/office/drawing/2014/main" id="{2911F488-2490-B563-201B-306828BCB33B}"/>
                  </a:ext>
                </a:extLst>
              </p:cNvPr>
              <p:cNvSpPr>
                <a:spLocks/>
              </p:cNvSpPr>
              <p:nvPr/>
            </p:nvSpPr>
            <p:spPr>
              <a:xfrm rot="5400000" flipV="1">
                <a:off x="6179380" y="74985"/>
                <a:ext cx="5768446" cy="5768446"/>
              </a:xfrm>
              <a:prstGeom prst="arc">
                <a:avLst>
                  <a:gd name="adj1" fmla="val 386748"/>
                  <a:gd name="adj2" fmla="val 10747660"/>
                </a:avLst>
              </a:prstGeom>
              <a:noFill/>
              <a:ln w="25400" cap="rnd" cmpd="sng" algn="ctr">
                <a:solidFill>
                  <a:srgbClr val="C4C4CD"/>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grpSp>
        <p:cxnSp>
          <p:nvCxnSpPr>
            <p:cNvPr id="30" name="Straight Connector 29">
              <a:extLst>
                <a:ext uri="{FF2B5EF4-FFF2-40B4-BE49-F238E27FC236}">
                  <a16:creationId xmlns:a16="http://schemas.microsoft.com/office/drawing/2014/main" id="{720E9D90-27D3-6055-7CC4-9A565016DAA9}"/>
                </a:ext>
              </a:extLst>
            </p:cNvPr>
            <p:cNvCxnSpPr>
              <a:cxnSpLocks/>
            </p:cNvCxnSpPr>
            <p:nvPr/>
          </p:nvCxnSpPr>
          <p:spPr>
            <a:xfrm>
              <a:off x="620555" y="1232995"/>
              <a:ext cx="0" cy="4863005"/>
            </a:xfrm>
            <a:prstGeom prst="line">
              <a:avLst/>
            </a:prstGeom>
            <a:noFill/>
            <a:ln w="25400" cap="rnd" cmpd="sng" algn="ctr">
              <a:solidFill>
                <a:srgbClr val="747480"/>
              </a:solidFill>
              <a:prstDash val="solid"/>
              <a:miter lim="800000"/>
              <a:headEnd w="sm" len="sm"/>
              <a:tailEnd type="oval" w="sm" len="sm"/>
            </a:ln>
            <a:effectLst/>
          </p:spPr>
        </p:cxnSp>
      </p:grpSp>
      <p:grpSp>
        <p:nvGrpSpPr>
          <p:cNvPr id="53" name="Group 52">
            <a:extLst>
              <a:ext uri="{FF2B5EF4-FFF2-40B4-BE49-F238E27FC236}">
                <a16:creationId xmlns:a16="http://schemas.microsoft.com/office/drawing/2014/main" id="{33E7718C-BB9F-524E-6FE2-59A431A2AC53}"/>
              </a:ext>
            </a:extLst>
          </p:cNvPr>
          <p:cNvGrpSpPr/>
          <p:nvPr userDrawn="1"/>
        </p:nvGrpSpPr>
        <p:grpSpPr>
          <a:xfrm>
            <a:off x="2181626" y="-3"/>
            <a:ext cx="10010380" cy="1442640"/>
            <a:chOff x="2182762" y="-3"/>
            <a:chExt cx="10015594" cy="1442640"/>
          </a:xfrm>
        </p:grpSpPr>
        <p:pic>
          <p:nvPicPr>
            <p:cNvPr id="36" name="Picture 35">
              <a:extLst>
                <a:ext uri="{FF2B5EF4-FFF2-40B4-BE49-F238E27FC236}">
                  <a16:creationId xmlns:a16="http://schemas.microsoft.com/office/drawing/2014/main" id="{2E99AF76-3DFE-91B1-1B22-F70934D5278D}"/>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l="-140"/>
            <a:stretch/>
          </p:blipFill>
          <p:spPr>
            <a:xfrm>
              <a:off x="7597233" y="1"/>
              <a:ext cx="4601118" cy="1442636"/>
            </a:xfrm>
            <a:prstGeom prst="rect">
              <a:avLst/>
            </a:prstGeom>
          </p:spPr>
        </p:pic>
        <p:sp>
          <p:nvSpPr>
            <p:cNvPr id="37" name="Rectangle: Top Corners Rounded 36">
              <a:extLst>
                <a:ext uri="{FF2B5EF4-FFF2-40B4-BE49-F238E27FC236}">
                  <a16:creationId xmlns:a16="http://schemas.microsoft.com/office/drawing/2014/main" id="{E3EDA920-1A4F-3CE8-448B-B7E50CF67591}"/>
                </a:ext>
              </a:extLst>
            </p:cNvPr>
            <p:cNvSpPr/>
            <p:nvPr/>
          </p:nvSpPr>
          <p:spPr>
            <a:xfrm rot="16200000">
              <a:off x="6469240" y="-4286481"/>
              <a:ext cx="1442638" cy="10015594"/>
            </a:xfrm>
            <a:prstGeom prst="round2SameRect">
              <a:avLst>
                <a:gd name="adj1" fmla="val 40303"/>
                <a:gd name="adj2" fmla="val 0"/>
              </a:avLst>
            </a:prstGeom>
            <a:gradFill flip="none" rotWithShape="1">
              <a:gsLst>
                <a:gs pos="0">
                  <a:schemeClr val="tx1">
                    <a:alpha val="0"/>
                  </a:schemeClr>
                </a:gs>
                <a:gs pos="46000">
                  <a:srgbClr val="C4C4CD"/>
                </a:gs>
              </a:gsLst>
              <a:lin ang="162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grpSp>
        <p:nvGrpSpPr>
          <p:cNvPr id="28" name="Group 4">
            <a:extLst>
              <a:ext uri="{FF2B5EF4-FFF2-40B4-BE49-F238E27FC236}">
                <a16:creationId xmlns:a16="http://schemas.microsoft.com/office/drawing/2014/main" id="{00AAB404-A3E6-F501-8526-136E4088DE14}"/>
              </a:ext>
            </a:extLst>
          </p:cNvPr>
          <p:cNvGrpSpPr>
            <a:grpSpLocks noChangeAspect="1"/>
          </p:cNvGrpSpPr>
          <p:nvPr/>
        </p:nvGrpSpPr>
        <p:grpSpPr bwMode="auto">
          <a:xfrm>
            <a:off x="11281250" y="6356350"/>
            <a:ext cx="303055" cy="311150"/>
            <a:chOff x="7110" y="4004"/>
            <a:chExt cx="191" cy="196"/>
          </a:xfrm>
        </p:grpSpPr>
        <p:sp>
          <p:nvSpPr>
            <p:cNvPr id="46" name="Freeform 5">
              <a:extLst>
                <a:ext uri="{FF2B5EF4-FFF2-40B4-BE49-F238E27FC236}">
                  <a16:creationId xmlns:a16="http://schemas.microsoft.com/office/drawing/2014/main" id="{85E6346B-F5A7-5AAA-774B-2E27F469A5AB}"/>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 name="Freeform 6">
              <a:extLst>
                <a:ext uri="{FF2B5EF4-FFF2-40B4-BE49-F238E27FC236}">
                  <a16:creationId xmlns:a16="http://schemas.microsoft.com/office/drawing/2014/main" id="{54C905C9-4A38-0834-6B91-B3AD0C56782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 name="Freeform 7">
              <a:extLst>
                <a:ext uri="{FF2B5EF4-FFF2-40B4-BE49-F238E27FC236}">
                  <a16:creationId xmlns:a16="http://schemas.microsoft.com/office/drawing/2014/main" id="{D7E64549-1DE9-4551-B962-5886EB4527A3}"/>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
        <p:nvSpPr>
          <p:cNvPr id="3" name="Rectangle 13">
            <a:extLst>
              <a:ext uri="{FF2B5EF4-FFF2-40B4-BE49-F238E27FC236}">
                <a16:creationId xmlns:a16="http://schemas.microsoft.com/office/drawing/2014/main" id="{47E2CCE3-3E7B-6DD1-E9B9-D21BE9F994EE}"/>
              </a:ext>
            </a:extLst>
          </p:cNvPr>
          <p:cNvSpPr>
            <a:spLocks noChangeArrowheads="1"/>
          </p:cNvSpPr>
          <p:nvPr userDrawn="1"/>
        </p:nvSpPr>
        <p:spPr bwMode="auto">
          <a:xfrm>
            <a:off x="9729052" y="6538185"/>
            <a:ext cx="1322817"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r" eaLnBrk="0" hangingPunct="0">
              <a:lnSpc>
                <a:spcPct val="85000"/>
              </a:lnSpc>
              <a:spcAft>
                <a:spcPct val="0"/>
              </a:spcAft>
            </a:pPr>
            <a:r>
              <a:rPr lang="en-IN" altLang="en-US" sz="800" spc="-20">
                <a:solidFill>
                  <a:srgbClr val="747480"/>
                </a:solidFill>
                <a:cs typeface="Segoe UI" panose="020B0502040204020203" pitchFamily="34" charset="0"/>
              </a:rPr>
              <a:t>Page </a:t>
            </a:r>
            <a:fld id="{8A7E7ABD-A3FB-4C3D-B394-E64DDD5CB038}" type="slidenum">
              <a:rPr lang="en-IN" altLang="en-US" sz="800" b="1" spc="-20" smtClean="0">
                <a:solidFill>
                  <a:srgbClr val="747480"/>
                </a:solidFill>
                <a:latin typeface="EYInterstate" panose="02000503020000020004" pitchFamily="2" charset="0"/>
                <a:cs typeface="Segoe UI" panose="020B0502040204020203" pitchFamily="34" charset="0"/>
              </a:rPr>
              <a:pPr algn="r" eaLnBrk="0" hangingPunct="0">
                <a:lnSpc>
                  <a:spcPct val="85000"/>
                </a:lnSpc>
                <a:spcAft>
                  <a:spcPct val="0"/>
                </a:spcAft>
              </a:pPr>
              <a:t>‹#›</a:t>
            </a:fld>
            <a:endParaRPr lang="en-IN" altLang="en-US" sz="600" b="1" spc="-40">
              <a:solidFill>
                <a:srgbClr val="747480"/>
              </a:solidFill>
              <a:latin typeface="EYInterstate" panose="02000503020000020004" pitchFamily="2" charset="0"/>
              <a:cs typeface="Segoe UI" panose="020B0502040204020203" pitchFamily="34" charset="0"/>
            </a:endParaRPr>
          </a:p>
        </p:txBody>
      </p:sp>
      <p:sp>
        <p:nvSpPr>
          <p:cNvPr id="4" name="Rectangle 13">
            <a:extLst>
              <a:ext uri="{FF2B5EF4-FFF2-40B4-BE49-F238E27FC236}">
                <a16:creationId xmlns:a16="http://schemas.microsoft.com/office/drawing/2014/main" id="{CB53543F-1CAC-F702-99AC-7FD49BC6C76A}"/>
              </a:ext>
            </a:extLst>
          </p:cNvPr>
          <p:cNvSpPr>
            <a:spLocks noChangeArrowheads="1"/>
          </p:cNvSpPr>
          <p:nvPr userDrawn="1"/>
        </p:nvSpPr>
        <p:spPr bwMode="auto">
          <a:xfrm>
            <a:off x="5081417" y="6538185"/>
            <a:ext cx="2029168"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ctr" eaLnBrk="0" hangingPunct="0">
              <a:lnSpc>
                <a:spcPct val="85000"/>
              </a:lnSpc>
              <a:spcAft>
                <a:spcPct val="0"/>
              </a:spcAft>
            </a:pPr>
            <a:r>
              <a:rPr lang="en-IN" altLang="en-US" sz="800" b="1" spc="-20">
                <a:solidFill>
                  <a:srgbClr val="747480"/>
                </a:solidFill>
                <a:cs typeface="Segoe UI" panose="020B0502040204020203" pitchFamily="34" charset="0"/>
              </a:rPr>
              <a:t>Confidential – All Rights Reserved - </a:t>
            </a:r>
            <a:r>
              <a:rPr lang="en-IN" altLang="en-US" sz="800" b="1" spc="-20">
                <a:solidFill>
                  <a:srgbClr val="747480"/>
                </a:solidFill>
                <a:latin typeface="EYInterstate" panose="02000503020000020004" pitchFamily="2" charset="0"/>
                <a:cs typeface="Segoe UI" panose="020B0502040204020203" pitchFamily="34" charset="0"/>
              </a:rPr>
              <a:t>EY</a:t>
            </a:r>
            <a:endParaRPr lang="en-IN" altLang="en-US" sz="600" b="1" spc="-40">
              <a:solidFill>
                <a:srgbClr val="747480"/>
              </a:solidFill>
              <a:latin typeface="EYInterstate" panose="02000503020000020004" pitchFamily="2" charset="0"/>
              <a:cs typeface="Segoe UI" panose="020B0502040204020203" pitchFamily="34" charset="0"/>
            </a:endParaRPr>
          </a:p>
        </p:txBody>
      </p:sp>
    </p:spTree>
    <p:extLst>
      <p:ext uri="{BB962C8B-B14F-4D97-AF65-F5344CB8AC3E}">
        <p14:creationId xmlns:p14="http://schemas.microsoft.com/office/powerpoint/2010/main" val="1639144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91D256C-3726-8384-9A69-AB87C58AF7E9}"/>
              </a:ext>
            </a:extLst>
          </p:cNvPr>
          <p:cNvGraphicFramePr>
            <a:graphicFrameLocks noChangeAspect="1"/>
          </p:cNvGraphicFramePr>
          <p:nvPr userDrawn="1">
            <p:custDataLst>
              <p:tags r:id="rId9"/>
            </p:custDataLst>
            <p:extLst>
              <p:ext uri="{D42A27DB-BD31-4B8C-83A1-F6EECF244321}">
                <p14:modId xmlns:p14="http://schemas.microsoft.com/office/powerpoint/2010/main" val="1581422397"/>
              </p:ext>
            </p:extLst>
          </p:nvPr>
        </p:nvGraphicFramePr>
        <p:xfrm>
          <a:off x="1587" y="1588"/>
          <a:ext cx="1587" cy="1588"/>
        </p:xfrm>
        <a:graphic>
          <a:graphicData uri="http://schemas.openxmlformats.org/presentationml/2006/ole">
            <mc:AlternateContent xmlns:mc="http://schemas.openxmlformats.org/markup-compatibility/2006">
              <mc:Choice xmlns:v="urn:schemas-microsoft-com:vml" Requires="v">
                <p:oleObj name="think-cell Slide" r:id="rId10" imgW="592" imgH="591" progId="TCLayout.ActiveDocument.1">
                  <p:embed/>
                </p:oleObj>
              </mc:Choice>
              <mc:Fallback>
                <p:oleObj name="think-cell Slide" r:id="rId10" imgW="592" imgH="591" progId="TCLayout.ActiveDocument.1">
                  <p:embed/>
                  <p:pic>
                    <p:nvPicPr>
                      <p:cNvPr id="4" name="think-cell data - do not delete" hidden="1">
                        <a:extLst>
                          <a:ext uri="{FF2B5EF4-FFF2-40B4-BE49-F238E27FC236}">
                            <a16:creationId xmlns:a16="http://schemas.microsoft.com/office/drawing/2014/main" id="{F91D256C-3726-8384-9A69-AB87C58AF7E9}"/>
                          </a:ext>
                        </a:extLst>
                      </p:cNvPr>
                      <p:cNvPicPr/>
                      <p:nvPr/>
                    </p:nvPicPr>
                    <p:blipFill>
                      <a:blip r:embed="rId11"/>
                      <a:stretch>
                        <a:fillRect/>
                      </a:stretch>
                    </p:blipFill>
                    <p:spPr>
                      <a:xfrm>
                        <a:off x="1587" y="1588"/>
                        <a:ext cx="1587" cy="1588"/>
                      </a:xfrm>
                      <a:prstGeom prst="rect">
                        <a:avLst/>
                      </a:prstGeom>
                    </p:spPr>
                  </p:pic>
                </p:oleObj>
              </mc:Fallback>
            </mc:AlternateContent>
          </a:graphicData>
        </a:graphic>
      </p:graphicFrame>
      <p:sp>
        <p:nvSpPr>
          <p:cNvPr id="2" name="Title Placeholder"/>
          <p:cNvSpPr>
            <a:spLocks noGrp="1"/>
          </p:cNvSpPr>
          <p:nvPr>
            <p:ph type="title"/>
          </p:nvPr>
        </p:nvSpPr>
        <p:spPr>
          <a:xfrm>
            <a:off x="723550" y="369888"/>
            <a:ext cx="10984626" cy="470898"/>
          </a:xfrm>
          <a:prstGeom prst="rect">
            <a:avLst/>
          </a:prstGeom>
        </p:spPr>
        <p:txBody>
          <a:bodyPr vert="horz" lIns="0" tIns="0" rIns="0" bIns="0" rtlCol="0" anchor="t" anchorCtr="0">
            <a:noAutofit/>
          </a:bodyPr>
          <a:lstStyle/>
          <a:p>
            <a:r>
              <a:rPr lang="en-US"/>
              <a:t>Click to edit Master title style</a:t>
            </a:r>
            <a:endParaRPr lang="en-GB"/>
          </a:p>
        </p:txBody>
      </p:sp>
      <p:grpSp>
        <p:nvGrpSpPr>
          <p:cNvPr id="6" name="Logo">
            <a:extLst>
              <a:ext uri="{FF2B5EF4-FFF2-40B4-BE49-F238E27FC236}">
                <a16:creationId xmlns:a16="http://schemas.microsoft.com/office/drawing/2014/main" id="{84D8E7BF-2CB9-F661-3559-99D90AE0A4E5}"/>
              </a:ext>
            </a:extLst>
          </p:cNvPr>
          <p:cNvGrpSpPr>
            <a:grpSpLocks noChangeAspect="1"/>
          </p:cNvGrpSpPr>
          <p:nvPr userDrawn="1"/>
        </p:nvGrpSpPr>
        <p:grpSpPr bwMode="black">
          <a:xfrm>
            <a:off x="11362016" y="6355419"/>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latin typeface="+mn-lt"/>
              </a:endParaRPr>
            </a:p>
          </p:txBody>
        </p:sp>
        <p:sp>
          <p:nvSpPr>
            <p:cNvPr id="8" name="Freeform 6">
              <a:extLst>
                <a:ext uri="{FF2B5EF4-FFF2-40B4-BE49-F238E27FC236}">
                  <a16:creationId xmlns:a16="http://schemas.microsoft.com/office/drawing/2014/main" id="{9F5D8B0B-D61C-3D77-A3C6-C71B65E66459}"/>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latin typeface="+mn-lt"/>
              </a:endParaRPr>
            </a:p>
          </p:txBody>
        </p:sp>
        <p:sp>
          <p:nvSpPr>
            <p:cNvPr id="13" name="Freeform 7">
              <a:extLst>
                <a:ext uri="{FF2B5EF4-FFF2-40B4-BE49-F238E27FC236}">
                  <a16:creationId xmlns:a16="http://schemas.microsoft.com/office/drawing/2014/main" id="{66939EE2-541D-2E43-8858-BD44D3A0144C}"/>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latin typeface="+mn-lt"/>
              </a:endParaRPr>
            </a:p>
          </p:txBody>
        </p:sp>
      </p:grpSp>
      <p:sp>
        <p:nvSpPr>
          <p:cNvPr id="5" name="Flowchart: Manual Input 4">
            <a:extLst>
              <a:ext uri="{FF2B5EF4-FFF2-40B4-BE49-F238E27FC236}">
                <a16:creationId xmlns:a16="http://schemas.microsoft.com/office/drawing/2014/main" id="{402CB463-A7D5-AD9B-605E-FFBEB1AF5595}"/>
              </a:ext>
            </a:extLst>
          </p:cNvPr>
          <p:cNvSpPr/>
          <p:nvPr userDrawn="1"/>
        </p:nvSpPr>
        <p:spPr>
          <a:xfrm rot="10800000">
            <a:off x="479176" y="0"/>
            <a:ext cx="187464" cy="890933"/>
          </a:xfrm>
          <a:prstGeom prst="flowChartManualInput">
            <a:avLst/>
          </a:prstGeom>
          <a:solidFill>
            <a:srgbClr val="2D7BB9"/>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7944" tIns="107944" rIns="107944" bIns="107944"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grpSp>
        <p:nvGrpSpPr>
          <p:cNvPr id="29" name="Group 28">
            <a:extLst>
              <a:ext uri="{FF2B5EF4-FFF2-40B4-BE49-F238E27FC236}">
                <a16:creationId xmlns:a16="http://schemas.microsoft.com/office/drawing/2014/main" id="{214C8141-DCBE-A644-9C01-1E1BDD1FAAC5}"/>
              </a:ext>
            </a:extLst>
          </p:cNvPr>
          <p:cNvGrpSpPr/>
          <p:nvPr userDrawn="1"/>
        </p:nvGrpSpPr>
        <p:grpSpPr>
          <a:xfrm>
            <a:off x="0" y="-319314"/>
            <a:ext cx="857126" cy="177800"/>
            <a:chOff x="63500" y="46567"/>
            <a:chExt cx="857572" cy="177800"/>
          </a:xfrm>
        </p:grpSpPr>
        <p:sp>
          <p:nvSpPr>
            <p:cNvPr id="23" name="Rectangle 22">
              <a:extLst>
                <a:ext uri="{FF2B5EF4-FFF2-40B4-BE49-F238E27FC236}">
                  <a16:creationId xmlns:a16="http://schemas.microsoft.com/office/drawing/2014/main" id="{13BC1ECE-D0F9-D9D8-B425-30EE291BFCB5}"/>
                </a:ext>
              </a:extLst>
            </p:cNvPr>
            <p:cNvSpPr/>
            <p:nvPr/>
          </p:nvSpPr>
          <p:spPr>
            <a:xfrm>
              <a:off x="63500" y="46567"/>
              <a:ext cx="177800" cy="177800"/>
            </a:xfrm>
            <a:prstGeom prst="rect">
              <a:avLst/>
            </a:prstGeom>
            <a:solidFill>
              <a:srgbClr val="70C6F6"/>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sp>
          <p:nvSpPr>
            <p:cNvPr id="24" name="Rectangle 23">
              <a:extLst>
                <a:ext uri="{FF2B5EF4-FFF2-40B4-BE49-F238E27FC236}">
                  <a16:creationId xmlns:a16="http://schemas.microsoft.com/office/drawing/2014/main" id="{1815D5A9-D0BF-11CB-24CF-86DE8CB62E4B}"/>
                </a:ext>
              </a:extLst>
            </p:cNvPr>
            <p:cNvSpPr/>
            <p:nvPr/>
          </p:nvSpPr>
          <p:spPr>
            <a:xfrm>
              <a:off x="277108" y="46567"/>
              <a:ext cx="177800" cy="177800"/>
            </a:xfrm>
            <a:prstGeom prst="rect">
              <a:avLst/>
            </a:prstGeom>
            <a:solidFill>
              <a:srgbClr val="A4A4A4"/>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sp>
          <p:nvSpPr>
            <p:cNvPr id="25" name="Rectangle 24">
              <a:extLst>
                <a:ext uri="{FF2B5EF4-FFF2-40B4-BE49-F238E27FC236}">
                  <a16:creationId xmlns:a16="http://schemas.microsoft.com/office/drawing/2014/main" id="{79865790-ED88-5677-5561-15C4382692AA}"/>
                </a:ext>
              </a:extLst>
            </p:cNvPr>
            <p:cNvSpPr/>
            <p:nvPr/>
          </p:nvSpPr>
          <p:spPr>
            <a:xfrm>
              <a:off x="510190" y="46567"/>
              <a:ext cx="177800" cy="177800"/>
            </a:xfrm>
            <a:prstGeom prst="rect">
              <a:avLst/>
            </a:prstGeom>
            <a:solidFill>
              <a:srgbClr val="2D7BB9"/>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sp>
          <p:nvSpPr>
            <p:cNvPr id="28" name="Rectangle 27">
              <a:extLst>
                <a:ext uri="{FF2B5EF4-FFF2-40B4-BE49-F238E27FC236}">
                  <a16:creationId xmlns:a16="http://schemas.microsoft.com/office/drawing/2014/main" id="{1F2FB72C-562D-EAD4-6966-8D2751DE4365}"/>
                </a:ext>
              </a:extLst>
            </p:cNvPr>
            <p:cNvSpPr/>
            <p:nvPr/>
          </p:nvSpPr>
          <p:spPr>
            <a:xfrm>
              <a:off x="743272" y="46567"/>
              <a:ext cx="177800" cy="177800"/>
            </a:xfrm>
            <a:prstGeom prst="rect">
              <a:avLst/>
            </a:prstGeom>
            <a:solidFill>
              <a:srgbClr val="3A3C41"/>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grpSp>
      <p:sp>
        <p:nvSpPr>
          <p:cNvPr id="9" name="TextBox 8">
            <a:extLst>
              <a:ext uri="{FF2B5EF4-FFF2-40B4-BE49-F238E27FC236}">
                <a16:creationId xmlns:a16="http://schemas.microsoft.com/office/drawing/2014/main" id="{D49886FA-3CF9-81EA-3B32-59F671CAF01C}"/>
              </a:ext>
            </a:extLst>
          </p:cNvPr>
          <p:cNvSpPr txBox="1"/>
          <p:nvPr userDrawn="1"/>
        </p:nvSpPr>
        <p:spPr>
          <a:xfrm flipH="1">
            <a:off x="10782560" y="6569061"/>
            <a:ext cx="402144" cy="141577"/>
          </a:xfrm>
          <a:prstGeom prst="rect">
            <a:avLst/>
          </a:prstGeom>
          <a:noFill/>
        </p:spPr>
        <p:txBody>
          <a:bodyPr wrap="none" lIns="0" tIns="36557" rIns="0" bIns="0" rtlCol="0">
            <a:spAutoFit/>
          </a:bodyPr>
          <a:lstStyle/>
          <a:p>
            <a:pPr marL="0" indent="0" algn="r">
              <a:lnSpc>
                <a:spcPct val="85000"/>
              </a:lnSpc>
              <a:spcAft>
                <a:spcPts val="600"/>
              </a:spcAft>
              <a:buClr>
                <a:schemeClr val="accent2"/>
              </a:buClr>
              <a:buSzPct val="70000"/>
              <a:buFont typeface="Arial" pitchFamily="34" charset="0"/>
              <a:buNone/>
            </a:pPr>
            <a:r>
              <a:rPr lang="en-IN" sz="800" b="1">
                <a:solidFill>
                  <a:schemeClr val="bg1"/>
                </a:solidFill>
              </a:rPr>
              <a:t>Page </a:t>
            </a:r>
            <a:fld id="{1657A19E-924F-40AF-AB05-022E8F444213}" type="slidenum">
              <a:rPr lang="en-IN" sz="800" b="1" smtClean="0">
                <a:solidFill>
                  <a:schemeClr val="bg1"/>
                </a:solidFill>
              </a:rPr>
              <a:pPr marL="0" indent="0" algn="r">
                <a:lnSpc>
                  <a:spcPct val="85000"/>
                </a:lnSpc>
                <a:spcAft>
                  <a:spcPts val="600"/>
                </a:spcAft>
                <a:buClr>
                  <a:schemeClr val="accent2"/>
                </a:buClr>
                <a:buSzPct val="70000"/>
                <a:buFont typeface="Arial" pitchFamily="34" charset="0"/>
                <a:buNone/>
              </a:pPr>
              <a:t>‹#›</a:t>
            </a:fld>
            <a:endParaRPr lang="en-IN" sz="800" b="1">
              <a:solidFill>
                <a:schemeClr val="bg1"/>
              </a:solidFill>
            </a:endParaRPr>
          </a:p>
        </p:txBody>
      </p:sp>
      <p:sp>
        <p:nvSpPr>
          <p:cNvPr id="10" name="TextBox 9">
            <a:extLst>
              <a:ext uri="{FF2B5EF4-FFF2-40B4-BE49-F238E27FC236}">
                <a16:creationId xmlns:a16="http://schemas.microsoft.com/office/drawing/2014/main" id="{471CE5EA-75A2-5CAF-BCD1-DF359DC41676}"/>
              </a:ext>
            </a:extLst>
          </p:cNvPr>
          <p:cNvSpPr txBox="1"/>
          <p:nvPr userDrawn="1"/>
        </p:nvSpPr>
        <p:spPr>
          <a:xfrm rot="5400000" flipH="1">
            <a:off x="11009870" y="3358250"/>
            <a:ext cx="1862689" cy="141503"/>
          </a:xfrm>
          <a:prstGeom prst="rect">
            <a:avLst/>
          </a:prstGeom>
          <a:noFill/>
        </p:spPr>
        <p:txBody>
          <a:bodyPr wrap="none" lIns="0" tIns="36557" rIns="0" bIns="0" rtlCol="0">
            <a:spAutoFit/>
          </a:bodyPr>
          <a:lstStyle/>
          <a:p>
            <a:pPr marL="0" indent="0" algn="r">
              <a:lnSpc>
                <a:spcPct val="85000"/>
              </a:lnSpc>
              <a:spcAft>
                <a:spcPts val="600"/>
              </a:spcAft>
              <a:buClr>
                <a:schemeClr val="accent2"/>
              </a:buClr>
              <a:buSzPct val="70000"/>
              <a:buFont typeface="Arial" pitchFamily="34" charset="0"/>
              <a:buNone/>
            </a:pPr>
            <a:r>
              <a:rPr lang="en-IN" sz="800" b="0">
                <a:solidFill>
                  <a:schemeClr val="bg2"/>
                </a:solidFill>
              </a:rPr>
              <a:t>Confidential – All Rights Reserved — EY </a:t>
            </a:r>
            <a:endParaRPr lang="en-IN" sz="800" b="1">
              <a:solidFill>
                <a:srgbClr val="2D7BB9"/>
              </a:solidFill>
            </a:endParaRPr>
          </a:p>
        </p:txBody>
      </p:sp>
    </p:spTree>
    <p:extLst>
      <p:ext uri="{BB962C8B-B14F-4D97-AF65-F5344CB8AC3E}">
        <p14:creationId xmlns:p14="http://schemas.microsoft.com/office/powerpoint/2010/main" val="7428686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p:txStyles>
    <p:titleStyle>
      <a:lvl1pPr marL="0" indent="0" algn="l" defTabSz="913943" rtl="0" eaLnBrk="1" latinLnBrk="0" hangingPunct="1">
        <a:lnSpc>
          <a:spcPct val="85000"/>
        </a:lnSpc>
        <a:spcBef>
          <a:spcPts val="400"/>
        </a:spcBef>
        <a:spcAft>
          <a:spcPts val="400"/>
        </a:spcAft>
        <a:buClr>
          <a:schemeClr val="tx2"/>
        </a:buClr>
        <a:buSzPct val="100000"/>
        <a:buFont typeface="Wingdings" pitchFamily="2" charset="2"/>
        <a:buNone/>
        <a:defRPr lang="en-GB" sz="2399" b="0" i="0" kern="1200" dirty="0">
          <a:solidFill>
            <a:schemeClr val="bg1"/>
          </a:solidFill>
          <a:latin typeface="+mj-lt"/>
          <a:ea typeface="+mj-ea"/>
          <a:cs typeface="Arial" pitchFamily="34" charset="0"/>
        </a:defRPr>
      </a:lvl1pPr>
    </p:titleStyle>
    <p:bodyStyle>
      <a:lvl1pPr marL="251874" indent="-251874" algn="l" defTabSz="913943" rtl="0" eaLnBrk="1" latinLnBrk="0" hangingPunct="1">
        <a:spcBef>
          <a:spcPts val="400"/>
        </a:spcBef>
        <a:spcAft>
          <a:spcPts val="400"/>
        </a:spcAft>
        <a:buClr>
          <a:schemeClr val="tx2"/>
        </a:buClr>
        <a:buSzPct val="100000"/>
        <a:buFont typeface="Wingdings" pitchFamily="2" charset="2"/>
        <a:buChar char="§"/>
        <a:defRPr sz="1999" kern="1200">
          <a:solidFill>
            <a:schemeClr val="bg1"/>
          </a:solidFill>
          <a:latin typeface="+mn-lt"/>
          <a:ea typeface="+mn-ea"/>
          <a:cs typeface="+mn-cs"/>
        </a:defRPr>
      </a:lvl1pPr>
      <a:lvl2pPr marL="503748" indent="-251874" algn="l" defTabSz="913943" rtl="0" eaLnBrk="1" latinLnBrk="0" hangingPunct="1">
        <a:spcBef>
          <a:spcPts val="400"/>
        </a:spcBef>
        <a:spcAft>
          <a:spcPts val="400"/>
        </a:spcAft>
        <a:buClr>
          <a:schemeClr val="tx2"/>
        </a:buClr>
        <a:buSzPct val="100000"/>
        <a:buFont typeface="Wingdings" pitchFamily="2" charset="2"/>
        <a:buChar char="§"/>
        <a:defRPr sz="1999" kern="1200">
          <a:solidFill>
            <a:schemeClr val="bg1"/>
          </a:solidFill>
          <a:latin typeface="+mn-lt"/>
          <a:ea typeface="+mn-ea"/>
          <a:cs typeface="+mn-cs"/>
        </a:defRPr>
      </a:lvl2pPr>
      <a:lvl3pPr marL="755622" indent="-251874" algn="l" defTabSz="913943" rtl="0" eaLnBrk="1" latinLnBrk="0" hangingPunct="1">
        <a:spcBef>
          <a:spcPts val="0"/>
        </a:spcBef>
        <a:spcAft>
          <a:spcPts val="600"/>
        </a:spcAft>
        <a:buClr>
          <a:schemeClr val="tx2"/>
        </a:buClr>
        <a:buSzPct val="100000"/>
        <a:buFont typeface="Wingdings" pitchFamily="2" charset="2"/>
        <a:buChar char="§"/>
        <a:defRPr sz="1799" kern="1200">
          <a:solidFill>
            <a:schemeClr val="bg1"/>
          </a:solidFill>
          <a:latin typeface="+mn-lt"/>
          <a:ea typeface="+mn-ea"/>
          <a:cs typeface="+mn-cs"/>
        </a:defRPr>
      </a:lvl3pPr>
      <a:lvl4pPr marL="1007496" indent="-251874" algn="l" defTabSz="913943" rtl="0" eaLnBrk="1" latinLnBrk="0" hangingPunct="1">
        <a:spcBef>
          <a:spcPts val="0"/>
        </a:spcBef>
        <a:spcAft>
          <a:spcPts val="400"/>
        </a:spcAft>
        <a:buClr>
          <a:schemeClr val="tx2"/>
        </a:buClr>
        <a:buSzPct val="100000"/>
        <a:buFont typeface="Wingdings" pitchFamily="2" charset="2"/>
        <a:buChar char="§"/>
        <a:defRPr sz="1599" kern="1200">
          <a:solidFill>
            <a:schemeClr val="bg1"/>
          </a:solidFill>
          <a:latin typeface="+mn-lt"/>
          <a:ea typeface="+mn-ea"/>
          <a:cs typeface="+mn-cs"/>
        </a:defRPr>
      </a:lvl4pPr>
      <a:lvl5pPr marL="1259370" indent="-251874" algn="l" defTabSz="913943" rtl="0" eaLnBrk="1" latinLnBrk="0" hangingPunct="1">
        <a:spcBef>
          <a:spcPts val="0"/>
        </a:spcBef>
        <a:spcAft>
          <a:spcPts val="400"/>
        </a:spcAft>
        <a:buClr>
          <a:schemeClr val="tx2"/>
        </a:buClr>
        <a:buSzPct val="100000"/>
        <a:buFont typeface="Wingdings" pitchFamily="2" charset="2"/>
        <a:buChar char="§"/>
        <a:defRPr sz="1599" kern="1200">
          <a:solidFill>
            <a:schemeClr val="bg1"/>
          </a:solidFill>
          <a:latin typeface="+mn-lt"/>
          <a:ea typeface="+mn-ea"/>
          <a:cs typeface="+mn-cs"/>
        </a:defRPr>
      </a:lvl5pPr>
      <a:lvl6pPr marL="1511244" indent="-251874" algn="l" defTabSz="913943" rtl="0" eaLnBrk="1" latinLnBrk="0" hangingPunct="1">
        <a:spcBef>
          <a:spcPts val="0"/>
        </a:spcBef>
        <a:spcAft>
          <a:spcPts val="400"/>
        </a:spcAft>
        <a:buClr>
          <a:schemeClr val="tx2"/>
        </a:buClr>
        <a:buFont typeface="Wingdings" pitchFamily="2" charset="2"/>
        <a:buChar char="§"/>
        <a:tabLst/>
        <a:defRPr sz="1399" kern="1200">
          <a:solidFill>
            <a:schemeClr val="bg1"/>
          </a:solidFill>
          <a:latin typeface="+mn-lt"/>
          <a:ea typeface="+mn-ea"/>
          <a:cs typeface="+mn-cs"/>
        </a:defRPr>
      </a:lvl6pPr>
      <a:lvl7pPr marL="1763118" indent="-251874" algn="l" defTabSz="913943" rtl="0" eaLnBrk="1" latinLnBrk="0" hangingPunct="1">
        <a:spcBef>
          <a:spcPts val="0"/>
        </a:spcBef>
        <a:spcAft>
          <a:spcPts val="400"/>
        </a:spcAft>
        <a:buClr>
          <a:schemeClr val="tx2"/>
        </a:buClr>
        <a:buFont typeface="Wingdings" pitchFamily="2" charset="2"/>
        <a:buChar char="§"/>
        <a:tabLst/>
        <a:defRPr sz="1399" kern="1200">
          <a:solidFill>
            <a:schemeClr val="bg1"/>
          </a:solidFill>
          <a:latin typeface="+mn-lt"/>
          <a:ea typeface="+mn-ea"/>
          <a:cs typeface="+mn-cs"/>
        </a:defRPr>
      </a:lvl7pPr>
      <a:lvl8pPr marL="2014992" indent="-251874" algn="l" defTabSz="913943" rtl="0" eaLnBrk="1" latinLnBrk="0" hangingPunct="1">
        <a:spcBef>
          <a:spcPts val="0"/>
        </a:spcBef>
        <a:spcAft>
          <a:spcPts val="400"/>
        </a:spcAft>
        <a:buClr>
          <a:schemeClr val="tx2"/>
        </a:buClr>
        <a:buFont typeface="Wingdings" pitchFamily="2" charset="2"/>
        <a:buChar char="§"/>
        <a:tabLst/>
        <a:defRPr sz="1199" kern="1200">
          <a:solidFill>
            <a:schemeClr val="bg1"/>
          </a:solidFill>
          <a:latin typeface="+mn-lt"/>
          <a:ea typeface="+mn-ea"/>
          <a:cs typeface="+mn-cs"/>
        </a:defRPr>
      </a:lvl8pPr>
      <a:lvl9pPr marL="0" indent="0" algn="l" defTabSz="913943" rtl="0" eaLnBrk="1" latinLnBrk="0" hangingPunct="1">
        <a:spcBef>
          <a:spcPts val="1199"/>
        </a:spcBef>
        <a:spcAft>
          <a:spcPts val="1199"/>
        </a:spcAft>
        <a:buClr>
          <a:schemeClr val="tx2"/>
        </a:buClr>
        <a:buFont typeface="Wingdings" pitchFamily="2" charset="2"/>
        <a:buNone/>
        <a:tabLst/>
        <a:defRPr sz="2399" kern="1200">
          <a:solidFill>
            <a:schemeClr val="bg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66" orient="horz" pos="550">
          <p15:clr>
            <a:srgbClr val="F26B43"/>
          </p15:clr>
        </p15:guide>
        <p15:guide id="67" orient="horz" pos="232">
          <p15:clr>
            <a:srgbClr val="F26B43"/>
          </p15:clr>
        </p15:guide>
        <p15:guide id="68" orient="horz" pos="3816">
          <p15:clr>
            <a:srgbClr val="F26B43"/>
          </p15:clr>
        </p15:guide>
        <p15:guide id="69" orient="horz" pos="799">
          <p15:clr>
            <a:srgbClr val="F26B43"/>
          </p15:clr>
        </p15:guide>
        <p15:guide id="70" orient="horz" pos="40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6F95C-03A8-6BE9-CEFB-268C2DDA5E91}"/>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1813513"/>
            <a:chOff x="6191309" y="1666487"/>
            <a:chExt cx="5400616" cy="1816350"/>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1488510"/>
            </a:xfrm>
            <a:prstGeom prst="rect">
              <a:avLst/>
            </a:prstGeom>
            <a:noFill/>
            <a:ln>
              <a:noFill/>
            </a:ln>
          </p:spPr>
          <p:txBody>
            <a:bodyPr wrap="square" lIns="53916" tIns="53916" rIns="53916" bIns="53916" anchor="t">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dirty="0">
                  <a:ln>
                    <a:noFill/>
                  </a:ln>
                  <a:solidFill>
                    <a:srgbClr val="1A1A24"/>
                  </a:solidFill>
                  <a:effectLst/>
                  <a:uLnTx/>
                  <a:uFillTx/>
                  <a:latin typeface="EYInterstate Regular" panose="02000503020000020004" pitchFamily="2" charset="0"/>
                  <a:ea typeface="Arial Unicode MS" pitchFamily="34" charset="-128"/>
                  <a:cs typeface="+mn-cs"/>
                </a:rPr>
                <a:t>Masked </a:t>
              </a:r>
              <a:r>
                <a:rPr kumimoji="0" lang="en-IN" sz="1000" b="1" i="0" u="none" strike="noStrike" kern="1200" cap="none" spc="0" normalizeH="0" baseline="0" noProof="0" dirty="0" err="1">
                  <a:ln>
                    <a:noFill/>
                  </a:ln>
                  <a:solidFill>
                    <a:srgbClr val="1A1A24"/>
                  </a:solidFill>
                  <a:effectLst/>
                  <a:uLnTx/>
                  <a:uFillTx/>
                  <a:latin typeface="EYInterstate Regular" panose="02000503020000020004" pitchFamily="2" charset="0"/>
                  <a:ea typeface="Arial Unicode MS" pitchFamily="34" charset="-128"/>
                  <a:cs typeface="+mn-cs"/>
                </a:rPr>
                <a:t>corp</a:t>
              </a:r>
              <a:r>
                <a:rPr kumimoji="0" lang="en-IN" sz="1000" b="1" i="0" u="none" strike="noStrike" kern="1200" cap="none" spc="0" normalizeH="0" baseline="0" noProof="0" dirty="0">
                  <a:ln>
                    <a:noFill/>
                  </a:ln>
                  <a:solidFill>
                    <a:srgbClr val="1A1A24"/>
                  </a:solidFill>
                  <a:effectLst/>
                  <a:uLnTx/>
                  <a:uFillTx/>
                  <a:latin typeface="EYInterstate Regular" panose="02000503020000020004" pitchFamily="2" charset="0"/>
                  <a:ea typeface="Arial Unicode MS" pitchFamily="34" charset="-128"/>
                  <a:cs typeface="+mn-cs"/>
                </a:rPr>
                <a:t>, Singapore – 2021-2023</a:t>
              </a:r>
              <a:endParaRPr kumimoji="0" lang="en-IN" sz="900" b="0" i="0" u="none" strike="noStrike" kern="1200" cap="none" spc="0" normalizeH="0" baseline="0" noProof="0" dirty="0">
                <a:ln>
                  <a:noFill/>
                </a:ln>
                <a:solidFill>
                  <a:srgbClr val="000000"/>
                </a:solidFill>
                <a:effectLst/>
                <a:uLnTx/>
                <a:uFillTx/>
                <a:latin typeface="EYInterstate Light"/>
                <a:ea typeface="+mn-ea"/>
                <a:cs typeface="+mn-cs"/>
              </a:endParaRPr>
            </a:p>
            <a:p>
              <a:pPr marL="143784" marR="0" lvl="1" indent="-143784" algn="l" defTabSz="890511" rtl="0" eaLnBrk="1" fontAlgn="auto" latinLnBrk="0" hangingPunct="1">
                <a:lnSpc>
                  <a:spcPct val="100000"/>
                </a:lnSpc>
                <a:spcBef>
                  <a:spcPts val="0"/>
                </a:spcBef>
                <a:spcAft>
                  <a:spcPts val="2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a:t>
              </a:r>
              <a:r>
                <a:rPr kumimoji="0" lang="en-IN" sz="1000" b="0" i="0" u="none" strike="noStrike" kern="0" cap="none" spc="-10" normalizeH="0" baseline="0" noProof="0" dirty="0">
                  <a:ln>
                    <a:noFill/>
                  </a:ln>
                  <a:solidFill>
                    <a:srgbClr val="000000"/>
                  </a:solidFill>
                  <a:effectLst/>
                  <a:uLnTx/>
                  <a:uFillTx/>
                  <a:latin typeface="EYInterstate Light"/>
                  <a:ea typeface="+mn-ea"/>
                  <a:cs typeface="+mn-cs"/>
                </a:rPr>
                <a:t>MASKED description 123</a:t>
              </a:r>
              <a:endParaRPr kumimoji="0" lang="en-IN" sz="1000" b="0" i="0" u="none" strike="noStrike" kern="1200" cap="none" spc="0" normalizeH="0" baseline="0" noProof="0" dirty="0">
                <a:ln>
                  <a:noFill/>
                </a:ln>
                <a:solidFill>
                  <a:srgbClr val="000000"/>
                </a:solidFill>
                <a:effectLst/>
                <a:uLnTx/>
                <a:uFillTx/>
                <a:latin typeface="EYInterstate Light"/>
                <a:ea typeface="+mn-ea"/>
                <a:cs typeface="+mn-cs"/>
              </a:endParaRPr>
            </a:p>
            <a:p>
              <a:pPr marL="0" marR="0" lvl="1" indent="0" algn="l" defTabSz="890511" rtl="0" eaLnBrk="1" fontAlgn="auto" latinLnBrk="0" hangingPunct="1">
                <a:lnSpc>
                  <a:spcPct val="100000"/>
                </a:lnSpc>
                <a:spcBef>
                  <a:spcPts val="0"/>
                </a:spcBef>
                <a:spcAft>
                  <a:spcPts val="200"/>
                </a:spcAft>
                <a:buClrTx/>
                <a:buSzPct val="100000"/>
                <a:buFontTx/>
                <a:buNone/>
                <a:tabLst/>
                <a:defRPr/>
              </a:pP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a:p>
              <a:pPr marL="0" marR="0" lvl="1" indent="0" algn="l" defTabSz="890511" rtl="0" eaLnBrk="1" fontAlgn="auto" latinLnBrk="0" hangingPunct="1">
                <a:lnSpc>
                  <a:spcPct val="100000"/>
                </a:lnSpc>
                <a:spcBef>
                  <a:spcPts val="0"/>
                </a:spcBef>
                <a:spcAft>
                  <a:spcPts val="200"/>
                </a:spcAft>
                <a:buClrTx/>
                <a:buSzPct val="100000"/>
                <a:buFontTx/>
                <a:buNone/>
                <a:tabLst/>
                <a:defRPr/>
              </a:pPr>
              <a:r>
                <a:rPr kumimoji="0" lang="en-IN" sz="1000" b="1" i="0" u="none" strike="noStrike" kern="1200" cap="none" spc="0" normalizeH="0" baseline="0" noProof="0" dirty="0">
                  <a:ln>
                    <a:noFill/>
                  </a:ln>
                  <a:solidFill>
                    <a:srgbClr val="000000"/>
                  </a:solidFill>
                  <a:effectLst/>
                  <a:uLnTx/>
                  <a:uFillTx/>
                  <a:latin typeface="EYInterstate Regular"/>
                  <a:ea typeface="+mn-ea"/>
                  <a:cs typeface="+mn-cs"/>
                </a:rPr>
                <a:t>masked, Singapore – 2016-2021</a:t>
              </a:r>
              <a:endParaRPr kumimoji="0" lang="en-US" sz="1000" b="1" i="0" u="none" strike="noStrike" kern="0" cap="none" spc="-10" normalizeH="0" baseline="0" noProof="0" dirty="0">
                <a:ln>
                  <a:noFill/>
                </a:ln>
                <a:solidFill>
                  <a:srgbClr val="000000"/>
                </a:solidFill>
                <a:effectLst/>
                <a:uLnTx/>
                <a:uFillTx/>
                <a:latin typeface="EYInterstate Regular"/>
                <a:ea typeface="+mn-ea"/>
                <a:cs typeface="+mn-cs"/>
              </a:endParaRPr>
            </a:p>
            <a:p>
              <a:pPr marL="143784" marR="0" lvl="1" indent="-143784" algn="l" defTabSz="890511" rtl="0" eaLnBrk="1" fontAlgn="auto" latinLnBrk="0" hangingPunct="1">
                <a:lnSpc>
                  <a:spcPct val="100000"/>
                </a:lnSpc>
                <a:spcBef>
                  <a:spcPts val="0"/>
                </a:spcBef>
                <a:spcAft>
                  <a:spcPts val="200"/>
                </a:spcAft>
                <a:buClrTx/>
                <a:buSzPct val="100000"/>
                <a:buFont typeface="EYInterstate" panose="02000503020000020004" pitchFamily="2" charset="0"/>
                <a:buChar char="•"/>
                <a:tabLst/>
                <a:defRPr/>
              </a:pPr>
              <a:r>
                <a:rPr kumimoji="0" lang="en-IN" sz="1000" b="0" i="0" u="none" strike="noStrike" kern="1200" cap="none" spc="0" normalizeH="0" baseline="0" noProof="0" dirty="0">
                  <a:ln>
                    <a:noFill/>
                  </a:ln>
                  <a:solidFill>
                    <a:srgbClr val="000000"/>
                  </a:solidFill>
                  <a:effectLst/>
                  <a:uLnTx/>
                  <a:uFillTx/>
                  <a:latin typeface="EYInterstate Light"/>
                  <a:ea typeface="Times New Roman" panose="02020603050405020304" pitchFamily="18" charset="0"/>
                  <a:cs typeface="+mn-cs"/>
                </a:rPr>
                <a:t>masked</a:t>
              </a:r>
              <a:endParaRPr kumimoji="0" lang="en-IN" sz="1000" b="0" i="0" u="none" strike="noStrike" kern="1200" cap="none" spc="0" normalizeH="0" baseline="0" noProof="0" dirty="0">
                <a:ln>
                  <a:noFill/>
                </a:ln>
                <a:solidFill>
                  <a:srgbClr val="2E2E38"/>
                </a:solidFill>
                <a:effectLst/>
                <a:uLnTx/>
                <a:uFillTx/>
                <a:latin typeface="EYInterstate Light"/>
                <a:ea typeface="Times New Roman" panose="02020603050405020304" pitchFamily="18" charset="0"/>
                <a:cs typeface="+mn-cs"/>
              </a:endParaRPr>
            </a:p>
            <a:p>
              <a:pPr marL="143784" marR="0" lvl="1" indent="-143784" algn="l" defTabSz="890511" rtl="0" eaLnBrk="1" fontAlgn="auto" latinLnBrk="0" hangingPunct="1">
                <a:lnSpc>
                  <a:spcPct val="100000"/>
                </a:lnSpc>
                <a:spcBef>
                  <a:spcPts val="0"/>
                </a:spcBef>
                <a:spcAft>
                  <a:spcPts val="200"/>
                </a:spcAft>
                <a:buClrTx/>
                <a:buSzPct val="100000"/>
                <a:buFont typeface="EYInterstate" panose="02000503020000020004" pitchFamily="2" charset="0"/>
                <a:buChar char="•"/>
                <a:tabLst/>
                <a:defRPr/>
              </a:pPr>
              <a:endParaRPr kumimoji="0" lang="en-IN" sz="1000" b="0" i="0" u="none" strike="noStrike" kern="1200" cap="none" spc="0" normalizeH="0" baseline="0" noProof="0" dirty="0">
                <a:ln>
                  <a:noFill/>
                </a:ln>
                <a:solidFill>
                  <a:srgbClr val="000000"/>
                </a:solidFill>
                <a:effectLst/>
                <a:uLnTx/>
                <a:uFillTx/>
                <a:latin typeface="EYInterstate Light"/>
                <a:ea typeface="Times New Roman" panose="02020603050405020304" pitchFamily="18" charset="0"/>
                <a:cs typeface="+mn-cs"/>
              </a:endParaRPr>
            </a:p>
            <a:p>
              <a:pPr marL="143784" marR="0" lvl="1" indent="-143784" algn="l" defTabSz="890511" rtl="0" eaLnBrk="1" fontAlgn="auto" latinLnBrk="0" hangingPunct="1">
                <a:lnSpc>
                  <a:spcPct val="100000"/>
                </a:lnSpc>
                <a:spcBef>
                  <a:spcPts val="0"/>
                </a:spcBef>
                <a:spcAft>
                  <a:spcPts val="200"/>
                </a:spcAft>
                <a:buClrTx/>
                <a:buSzPct val="100000"/>
                <a:buFont typeface="EYInterstate" panose="02000503020000020004" pitchFamily="2" charset="0"/>
                <a:buChar char="•"/>
                <a:tabLst/>
                <a:defRPr/>
              </a:pPr>
              <a:endParaRPr kumimoji="0" lang="en-IN" sz="1000" b="0" i="0" u="none" strike="noStrike" kern="1200" cap="none" spc="0" normalizeH="0" baseline="0" noProof="0" dirty="0">
                <a:ln>
                  <a:noFill/>
                </a:ln>
                <a:solidFill>
                  <a:srgbClr val="000000"/>
                </a:solidFill>
                <a:effectLst/>
                <a:uLnTx/>
                <a:uFillTx/>
                <a:latin typeface="EYInterstate Light"/>
                <a:ea typeface="Times New Roman" panose="02020603050405020304" pitchFamily="18" charset="0"/>
                <a:cs typeface="+mn-cs"/>
              </a:endParaRPr>
            </a:p>
            <a:p>
              <a:pPr marL="143784" marR="0" lvl="1" indent="-143784" algn="l" defTabSz="890511" rtl="0" eaLnBrk="1" fontAlgn="auto" latinLnBrk="0" hangingPunct="1">
                <a:lnSpc>
                  <a:spcPct val="100000"/>
                </a:lnSpc>
                <a:spcBef>
                  <a:spcPts val="0"/>
                </a:spcBef>
                <a:spcAft>
                  <a:spcPts val="200"/>
                </a:spcAft>
                <a:buClrTx/>
                <a:buSzPct val="100000"/>
                <a:buFont typeface="EYInterstate" panose="02000503020000020004" pitchFamily="2" charset="0"/>
                <a:buChar char="•"/>
                <a:tabLst/>
                <a:defRPr/>
              </a:pPr>
              <a:endParaRPr kumimoji="0" lang="en-IN" sz="1000" b="0" i="0" u="none" strike="noStrike" kern="1200" cap="none" spc="0" normalizeH="0" baseline="0" noProof="0" dirty="0">
                <a:ln>
                  <a:noFill/>
                </a:ln>
                <a:solidFill>
                  <a:srgbClr val="000000"/>
                </a:solidFill>
                <a:effectLst/>
                <a:uLnTx/>
                <a:uFillTx/>
                <a:latin typeface="EYInterstate Light"/>
                <a:ea typeface="Times New Roman" panose="02020603050405020304" pitchFamily="18" charset="0"/>
                <a:cs typeface="+mn-cs"/>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marL="0" marR="0" lvl="0" indent="0" algn="l" defTabSz="912499" rtl="0" eaLnBrk="1" fontAlgn="base" latinLnBrk="0" hangingPunct="1">
              <a:lnSpc>
                <a:spcPct val="100000"/>
              </a:lnSpc>
              <a:spcBef>
                <a:spcPct val="0"/>
              </a:spcBef>
              <a:spcAft>
                <a:spcPts val="300"/>
              </a:spcAft>
              <a:buClr>
                <a:srgbClr val="000000"/>
              </a:buClr>
              <a:buSzPct val="80000"/>
              <a:buFontTx/>
              <a:buNone/>
              <a:tabLst>
                <a:tab pos="475260" algn="l"/>
                <a:tab pos="1140623" algn="l"/>
              </a:tabLst>
              <a:defRPr/>
            </a:pPr>
            <a:r>
              <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rPr>
              <a:t>MASKED PERSON 1</a:t>
            </a:r>
          </a:p>
          <a:p>
            <a:pPr marL="0" marR="0" lvl="1" indent="0" algn="l" defTabSz="1041821" rtl="0" eaLnBrk="1" fontAlgn="base" latinLnBrk="0" hangingPunct="1">
              <a:lnSpc>
                <a:spcPct val="100000"/>
              </a:lnSpc>
              <a:spcBef>
                <a:spcPts val="0"/>
              </a:spcBef>
              <a:spcAft>
                <a:spcPts val="0"/>
              </a:spcAft>
              <a:buClr>
                <a:srgbClr val="BC8E52"/>
              </a:buClr>
              <a:buSzPct val="80000"/>
              <a:buFontTx/>
              <a:buNone/>
              <a:tabLst/>
              <a:defRPr/>
            </a:pPr>
            <a:r>
              <a:rPr kumimoji="0" lang="en-GB" sz="950" b="1" i="0" u="none" strike="noStrike" kern="1200" cap="none" spc="0" normalizeH="0" baseline="0" noProof="0" dirty="0">
                <a:ln>
                  <a:noFill/>
                </a:ln>
                <a:solidFill>
                  <a:srgbClr val="1A1A24"/>
                </a:solidFill>
                <a:effectLst/>
                <a:uLnTx/>
                <a:uFillTx/>
                <a:latin typeface="EYInterstate Light"/>
                <a:ea typeface="宋体"/>
                <a:cs typeface="Arial"/>
              </a:rPr>
              <a:t>Senior Manager</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AI and Data, Singapore</a:t>
            </a:r>
          </a:p>
          <a:p>
            <a:pPr marL="0" marR="0" lvl="1" indent="0" algn="l" defTabSz="1040779" rtl="0" eaLnBrk="1" fontAlgn="base" latinLnBrk="0" hangingPunct="1">
              <a:lnSpc>
                <a:spcPct val="100000"/>
              </a:lnSpc>
              <a:spcBef>
                <a:spcPts val="0"/>
              </a:spcBef>
              <a:spcAft>
                <a:spcPts val="0"/>
              </a:spcAft>
              <a:buClr>
                <a:srgbClr val="BC8E52"/>
              </a:buClr>
              <a:buSzPct val="80000"/>
              <a:buFontTx/>
              <a:buNone/>
              <a:tabLst/>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Maskedemail</a:t>
            </a: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A seasoned professional with 20+ yrs of experience in technology with a unique blend of technical expertise and strategic project management to deliver complex solutions that align with business goals and drive measurable impact. </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I have successfully led cross-functional teams to execute large scale Digital transformations, Cloud deployments, Enterprise integrations and Data Analytics initiatives across industries delivering high value solutions. I’m passionate about helping organizations maximize ROI, optimize processes, and drive competitive advantage. </a:t>
              </a: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IN" sz="1000" b="0" i="0" u="none" strike="noStrike" kern="1200" cap="none" spc="0" normalizeH="0" baseline="0" noProof="0">
                  <a:ln>
                    <a:noFill/>
                  </a:ln>
                  <a:solidFill>
                    <a:srgbClr val="1A1A24"/>
                  </a:solidFill>
                  <a:effectLst/>
                  <a:uLnTx/>
                  <a:uFillTx/>
                  <a:latin typeface="EYInterstate Light"/>
                  <a:ea typeface="+mn-ea"/>
                  <a:cs typeface="+mn-cs"/>
                </a:rPr>
                <a:t>Project Management Professional (PMP)</a:t>
              </a:r>
              <a:endParaRPr kumimoji="0" lang="en-US" sz="950" b="0" i="0" u="none" strike="noStrike" kern="0" cap="none" spc="-10" normalizeH="0" baseline="0" noProof="0">
                <a:ln>
                  <a:noFill/>
                </a:ln>
                <a:solidFill>
                  <a:srgbClr val="000000"/>
                </a:solidFill>
                <a:effectLst/>
                <a:uLnTx/>
                <a:uFillTx/>
                <a:latin typeface="EYInterstate Light"/>
                <a:ea typeface="+mn-ea"/>
                <a:cs typeface="+mn-cs"/>
              </a:endParaRP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IN" sz="1000" b="0" i="0" u="none" strike="noStrike" kern="1200" cap="none" spc="0" normalizeH="0" baseline="0" noProof="0">
                  <a:ln>
                    <a:noFill/>
                  </a:ln>
                  <a:solidFill>
                    <a:srgbClr val="1A1A24"/>
                  </a:solidFill>
                  <a:effectLst/>
                  <a:uLnTx/>
                  <a:uFillTx/>
                  <a:latin typeface="EYInterstate Light"/>
                  <a:ea typeface="+mn-ea"/>
                  <a:cs typeface="+mn-cs"/>
                </a:rPr>
                <a:t>Professional Scrum Master (PSM I)</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IN" sz="1000" b="0" i="0" u="none" strike="noStrike" kern="1200" cap="none" spc="0" normalizeH="0" baseline="0" noProof="0">
                  <a:ln>
                    <a:noFill/>
                  </a:ln>
                  <a:solidFill>
                    <a:srgbClr val="1A1A24"/>
                  </a:solidFill>
                  <a:effectLst/>
                  <a:uLnTx/>
                  <a:uFillTx/>
                  <a:latin typeface="EYInterstate Light"/>
                  <a:ea typeface="+mn-ea"/>
                  <a:cs typeface="+mn-cs"/>
                </a:rPr>
                <a:t>AWS Certified Solution Architect Associate</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IN" sz="1000" b="0" i="0" u="none" strike="noStrike" kern="1200" cap="none" spc="0" normalizeH="0" baseline="0" noProof="0">
                  <a:ln>
                    <a:noFill/>
                  </a:ln>
                  <a:solidFill>
                    <a:srgbClr val="1A1A24"/>
                  </a:solidFill>
                  <a:effectLst/>
                  <a:uLnTx/>
                  <a:uFillTx/>
                  <a:latin typeface="EYInterstate Light"/>
                  <a:ea typeface="+mn-ea"/>
                  <a:cs typeface="+mn-cs"/>
                </a:rPr>
                <a:t>Microsoft certified Azure Fundamental</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endParaRPr kumimoji="0" lang="en-IN" sz="1000" b="0" i="0" u="none" strike="noStrike" kern="1200" cap="none" spc="0" normalizeH="0" baseline="0" noProof="0">
                <a:ln>
                  <a:noFill/>
                </a:ln>
                <a:solidFill>
                  <a:srgbClr val="1A1A24"/>
                </a:solidFill>
                <a:effectLst/>
                <a:uLnTx/>
                <a:uFillTx/>
                <a:latin typeface="EYInterstate Light"/>
                <a:ea typeface="+mn-ea"/>
                <a:cs typeface="+mn-cs"/>
              </a:endParaRP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endParaRPr kumimoji="0" lang="en-IN" sz="1000" b="0" i="0" u="none" strike="noStrike" kern="1200" cap="none" spc="0" normalizeH="0" baseline="0" noProof="0">
                <a:ln>
                  <a:noFill/>
                </a:ln>
                <a:solidFill>
                  <a:srgbClr val="1A1A24"/>
                </a:solidFill>
                <a:effectLst/>
                <a:uLnTx/>
                <a:uFillTx/>
                <a:latin typeface="EYInterstate Light"/>
                <a:ea typeface="+mn-ea"/>
                <a:cs typeface="+mn-cs"/>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nvGraphicFramePr>
        <p:xfrm>
          <a:off x="729465" y="3648381"/>
          <a:ext cx="4993241" cy="571977"/>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rPr lang="en-IN" sz="1000">
                          <a:solidFill>
                            <a:schemeClr val="bg1"/>
                          </a:solidFill>
                        </a:rPr>
                        <a:t>1998-2001</a:t>
                      </a:r>
                    </a:p>
                  </a:txBody>
                  <a:tcPr marL="91392" marR="91392" marT="28373" marB="28373"/>
                </a:tc>
                <a:tc>
                  <a:txBody>
                    <a:bodyPr/>
                    <a:lstStyle/>
                    <a:p>
                      <a:r>
                        <a:rPr lang="en-IN" sz="1000">
                          <a:solidFill>
                            <a:schemeClr val="bg1"/>
                          </a:solidFill>
                        </a:rPr>
                        <a:t>Master’s in Computer Applications</a:t>
                      </a:r>
                    </a:p>
                  </a:txBody>
                  <a:tcPr marL="91392" marR="91392" marT="28373" marB="28373"/>
                </a:tc>
                <a:extLst>
                  <a:ext uri="{0D108BD9-81ED-4DB2-BD59-A6C34878D82A}">
                    <a16:rowId xmlns:a16="http://schemas.microsoft.com/office/drawing/2014/main" val="2160126882"/>
                  </a:ext>
                </a:extLst>
              </a:tr>
            </a:tbl>
          </a:graphicData>
        </a:graphic>
      </p:graphicFrame>
    </p:spTree>
    <p:extLst>
      <p:ext uri="{BB962C8B-B14F-4D97-AF65-F5344CB8AC3E}">
        <p14:creationId xmlns:p14="http://schemas.microsoft.com/office/powerpoint/2010/main" val="620671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6DEE3-D5B0-E468-5D2D-CFEA4A9F7C35}"/>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1A2D1D1F-A7F0-497E-5880-26F0E118B42B}"/>
              </a:ext>
            </a:extLst>
          </p:cNvPr>
          <p:cNvSpPr/>
          <p:nvPr/>
        </p:nvSpPr>
        <p:spPr>
          <a:xfrm>
            <a:off x="6187994" y="1554941"/>
            <a:ext cx="5392186" cy="28755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sp>
        <p:nvSpPr>
          <p:cNvPr id="20" name="Text Box 7">
            <a:extLst>
              <a:ext uri="{FF2B5EF4-FFF2-40B4-BE49-F238E27FC236}">
                <a16:creationId xmlns:a16="http://schemas.microsoft.com/office/drawing/2014/main" id="{B4F1CE19-98CB-A5F4-6AD6-A60B857234F8}"/>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marL="0" marR="0" lvl="0" indent="0" algn="l" defTabSz="912499" rtl="0" eaLnBrk="1" fontAlgn="base" latinLnBrk="0" hangingPunct="1">
              <a:lnSpc>
                <a:spcPct val="100000"/>
              </a:lnSpc>
              <a:spcBef>
                <a:spcPct val="0"/>
              </a:spcBef>
              <a:spcAft>
                <a:spcPts val="300"/>
              </a:spcAft>
              <a:buClr>
                <a:srgbClr val="000000"/>
              </a:buClr>
              <a:buSzPct val="80000"/>
              <a:buFontTx/>
              <a:buNone/>
              <a:tabLst>
                <a:tab pos="475260" algn="l"/>
                <a:tab pos="1140623" algn="l"/>
              </a:tabLst>
              <a:defRPr/>
            </a:pPr>
            <a:r>
              <a:rPr kumimoji="0" lang="en-GB" altLang="zh-CN" sz="1797" b="1" i="0" u="none" strike="noStrike" kern="1200" cap="none" spc="0" normalizeH="0" baseline="0" noProof="0" dirty="0">
                <a:ln>
                  <a:noFill/>
                </a:ln>
                <a:solidFill>
                  <a:srgbClr val="000000"/>
                </a:solidFill>
                <a:effectLst/>
                <a:uLnTx/>
                <a:uFillTx/>
                <a:latin typeface="EYInterstate" panose="02000503020000020004" pitchFamily="2" charset="0"/>
                <a:ea typeface="宋体" pitchFamily="2" charset="-122"/>
                <a:cs typeface="Arial" panose="020B0604020202020204" pitchFamily="34" charset="0"/>
                <a:sym typeface="Arial Unicode MS" pitchFamily="34" charset="-128"/>
              </a:rPr>
              <a:t>Masked person 2</a:t>
            </a:r>
          </a:p>
          <a:p>
            <a:pPr marL="0" marR="0" lvl="1" indent="0" algn="l" defTabSz="1041821" rtl="0" eaLnBrk="1" fontAlgn="base" latinLnBrk="0" hangingPunct="1">
              <a:lnSpc>
                <a:spcPct val="100000"/>
              </a:lnSpc>
              <a:spcBef>
                <a:spcPts val="0"/>
              </a:spcBef>
              <a:spcAft>
                <a:spcPts val="0"/>
              </a:spcAft>
              <a:buClr>
                <a:srgbClr val="BC8E52"/>
              </a:buClr>
              <a:buSzPct val="80000"/>
              <a:buFontTx/>
              <a:buNone/>
              <a:tabLst/>
              <a:defRPr/>
            </a:pP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Manager, AI and Data, Singapore</a:t>
            </a:r>
          </a:p>
          <a:p>
            <a:pPr marL="0" marR="0" lvl="1" indent="0" algn="l" defTabSz="1040779" rtl="0" eaLnBrk="1" fontAlgn="base" latinLnBrk="0" hangingPunct="1">
              <a:lnSpc>
                <a:spcPct val="100000"/>
              </a:lnSpc>
              <a:spcBef>
                <a:spcPts val="0"/>
              </a:spcBef>
              <a:spcAft>
                <a:spcPts val="0"/>
              </a:spcAft>
              <a:buClr>
                <a:srgbClr val="BC8E52"/>
              </a:buClr>
              <a:buSzPct val="80000"/>
              <a:buFontTx/>
              <a:buNone/>
              <a:tabLst/>
              <a:defRPr/>
            </a:pPr>
            <a:r>
              <a:rPr kumimoji="0" lang="it-IT" sz="999" b="0" i="0" u="none" strike="noStrike" kern="1200" cap="none" spc="0" normalizeH="0" baseline="0" noProof="0" dirty="0">
                <a:ln>
                  <a:noFill/>
                </a:ln>
                <a:solidFill>
                  <a:srgbClr val="000000"/>
                </a:solidFill>
                <a:effectLst/>
                <a:uLnTx/>
                <a:uFillTx/>
                <a:latin typeface="EYInterstate Light"/>
                <a:ea typeface="宋体" pitchFamily="2" charset="-122"/>
                <a:cs typeface="Arial" panose="020B0604020202020204" pitchFamily="34" charset="0"/>
              </a:rPr>
              <a:t>Email: Masked</a:t>
            </a:r>
          </a:p>
        </p:txBody>
      </p:sp>
      <p:grpSp>
        <p:nvGrpSpPr>
          <p:cNvPr id="21" name="Group 16">
            <a:extLst>
              <a:ext uri="{FF2B5EF4-FFF2-40B4-BE49-F238E27FC236}">
                <a16:creationId xmlns:a16="http://schemas.microsoft.com/office/drawing/2014/main" id="{0F403D97-2B2F-1A7F-15B3-6841CB4FA9E6}"/>
              </a:ext>
            </a:extLst>
          </p:cNvPr>
          <p:cNvGrpSpPr/>
          <p:nvPr/>
        </p:nvGrpSpPr>
        <p:grpSpPr>
          <a:xfrm>
            <a:off x="611818" y="1554024"/>
            <a:ext cx="5576176" cy="1615119"/>
            <a:chOff x="609278" y="1666489"/>
            <a:chExt cx="5328000" cy="1616798"/>
          </a:xfrm>
        </p:grpSpPr>
        <p:sp>
          <p:nvSpPr>
            <p:cNvPr id="22" name="Rectangle 21">
              <a:extLst>
                <a:ext uri="{FF2B5EF4-FFF2-40B4-BE49-F238E27FC236}">
                  <a16:creationId xmlns:a16="http://schemas.microsoft.com/office/drawing/2014/main" id="{5AC0280F-C05F-CAFE-9E63-1AF0E0D88322}"/>
                </a:ext>
              </a:extLst>
            </p:cNvPr>
            <p:cNvSpPr>
              <a:spLocks noChangeArrowheads="1"/>
            </p:cNvSpPr>
            <p:nvPr/>
          </p:nvSpPr>
          <p:spPr bwMode="auto">
            <a:xfrm>
              <a:off x="609278" y="1941846"/>
              <a:ext cx="5328000" cy="1341441"/>
            </a:xfrm>
            <a:prstGeom prst="rect">
              <a:avLst/>
            </a:prstGeom>
            <a:noFill/>
            <a:ln>
              <a:noFill/>
            </a:ln>
          </p:spPr>
          <p:txBody>
            <a:bodyPr wrap="square" lIns="107888" tIns="71926" rIns="107888" bIns="35962" anchor="t">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000" b="0" i="0" u="none" strike="noStrike" kern="0" cap="none" spc="-10" normalizeH="0" baseline="0" noProof="0" dirty="0">
                  <a:ln>
                    <a:noFill/>
                  </a:ln>
                  <a:solidFill>
                    <a:srgbClr val="000000"/>
                  </a:solidFill>
                  <a:effectLst/>
                  <a:uLnTx/>
                  <a:uFillTx/>
                  <a:latin typeface="EYInterstate Light"/>
                  <a:ea typeface="+mn-ea"/>
                  <a:cs typeface="+mn-cs"/>
                </a:rPr>
                <a:t>Masked is a Technology Consultant with over 9 years of experience delivering enterprise‑scale data solutions across the financial services, public sector, and energy industries. </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000" b="0" i="0" u="none" strike="noStrike" kern="0" cap="none" spc="-10" normalizeH="0" baseline="0" noProof="0" dirty="0">
                  <a:ln>
                    <a:noFill/>
                  </a:ln>
                  <a:solidFill>
                    <a:srgbClr val="000000"/>
                  </a:solidFill>
                  <a:effectLst/>
                  <a:uLnTx/>
                  <a:uFillTx/>
                  <a:latin typeface="EYInterstate Light"/>
                  <a:ea typeface="+mn-ea"/>
                  <a:cs typeface="+mn-cs"/>
                </a:rPr>
                <a:t>Her expertise centers on data engineering, analytics, and AI‑enabled solutions. She has designed and built scalable data pipelines, data‑warehousing architectures, and optimized data models to support advanced analytics and business intelligence. </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000" b="0" i="0" u="none" strike="noStrike" kern="0" cap="none" spc="-10" normalizeH="0" baseline="0" noProof="0" dirty="0">
                  <a:ln>
                    <a:noFill/>
                  </a:ln>
                  <a:solidFill>
                    <a:srgbClr val="000000"/>
                  </a:solidFill>
                  <a:effectLst/>
                  <a:uLnTx/>
                  <a:uFillTx/>
                  <a:latin typeface="EYInterstate Light"/>
                  <a:ea typeface="+mn-ea"/>
                  <a:cs typeface="+mn-cs"/>
                </a:rPr>
                <a:t>She is skilled in translating business requirements into robust technical designs and ensuring reliable, performant, and secure data ecosystems.</a:t>
              </a:r>
            </a:p>
            <a:p>
              <a:pPr marL="0" marR="0" lvl="0" indent="0" algn="l" defTabSz="913943"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2E2E38"/>
                </a:solidFill>
                <a:effectLst/>
                <a:uLnTx/>
                <a:uFillTx/>
                <a:latin typeface="EYInterstate Light"/>
                <a:ea typeface="Times New Roman" panose="02020603050405020304" pitchFamily="18" charset="0"/>
                <a:cs typeface="+mn-cs"/>
              </a:endParaRPr>
            </a:p>
          </p:txBody>
        </p:sp>
        <p:sp>
          <p:nvSpPr>
            <p:cNvPr id="23" name="Rectangle: Top Corners Rounded 18">
              <a:extLst>
                <a:ext uri="{FF2B5EF4-FFF2-40B4-BE49-F238E27FC236}">
                  <a16:creationId xmlns:a16="http://schemas.microsoft.com/office/drawing/2014/main" id="{CF31033B-3952-D087-E146-272544263CFA}"/>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82170D49-F529-8EA7-23F8-70C1ECCDA425}"/>
              </a:ext>
            </a:extLst>
          </p:cNvPr>
          <p:cNvSpPr/>
          <p:nvPr/>
        </p:nvSpPr>
        <p:spPr>
          <a:xfrm rot="5400000">
            <a:off x="3115881" y="5486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F2233829-11D5-FDA2-D1B4-47C3227146EC}"/>
              </a:ext>
            </a:extLst>
          </p:cNvPr>
          <p:cNvGrpSpPr/>
          <p:nvPr/>
        </p:nvGrpSpPr>
        <p:grpSpPr>
          <a:xfrm>
            <a:off x="616485" y="4255702"/>
            <a:ext cx="5295146" cy="1749535"/>
            <a:chOff x="623288" y="4400148"/>
            <a:chExt cx="5300663" cy="2097628"/>
          </a:xfrm>
        </p:grpSpPr>
        <p:sp>
          <p:nvSpPr>
            <p:cNvPr id="30" name="Rectangle 21">
              <a:extLst>
                <a:ext uri="{FF2B5EF4-FFF2-40B4-BE49-F238E27FC236}">
                  <a16:creationId xmlns:a16="http://schemas.microsoft.com/office/drawing/2014/main" id="{33858558-8760-702E-DADB-7263F5DF0A31}"/>
                </a:ext>
              </a:extLst>
            </p:cNvPr>
            <p:cNvSpPr>
              <a:spLocks noChangeArrowheads="1"/>
            </p:cNvSpPr>
            <p:nvPr/>
          </p:nvSpPr>
          <p:spPr bwMode="auto">
            <a:xfrm>
              <a:off x="623288" y="4688151"/>
              <a:ext cx="2624747" cy="1809625"/>
            </a:xfrm>
            <a:prstGeom prst="rect">
              <a:avLst/>
            </a:prstGeom>
            <a:noFill/>
            <a:ln>
              <a:noFill/>
            </a:ln>
          </p:spPr>
          <p:txBody>
            <a:bodyPr wrap="square" lIns="107888" tIns="71926" rIns="107888" bIns="35962" anchor="t">
              <a:spAutoFit/>
            </a:bodyPr>
            <a:lstStyle/>
            <a:p>
              <a:pPr marL="143510" marR="0" lvl="1" indent="-143510" algn="l" defTabSz="890956" rtl="0" eaLnBrk="1" fontAlgn="base"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Databases: Microsoft SQL, PostgreSQL</a:t>
              </a:r>
            </a:p>
            <a:p>
              <a:pPr marL="143510" marR="0" lvl="1" indent="-143510" algn="l" defTabSz="890956" rtl="0" eaLnBrk="1" fontAlgn="base"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Platforms: SAS Viya, SAS 9.4, IBM Spectrum LSF</a:t>
              </a:r>
            </a:p>
            <a:p>
              <a:pPr marL="143510" marR="0" lvl="1" indent="-143510" algn="l" defTabSz="890956" rtl="0" eaLnBrk="1" fontAlgn="base"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Programming: SQL, SAS, </a:t>
              </a:r>
              <a:r>
                <a:rPr kumimoji="0" lang="en-US" sz="950" b="0" i="0" u="none" strike="noStrike" kern="0" cap="none" spc="-10" normalizeH="0" baseline="0" noProof="0" err="1">
                  <a:ln>
                    <a:noFill/>
                  </a:ln>
                  <a:solidFill>
                    <a:srgbClr val="000000"/>
                  </a:solidFill>
                  <a:effectLst/>
                  <a:uLnTx/>
                  <a:uFillTx/>
                  <a:latin typeface="EYInterstate Light"/>
                  <a:ea typeface="+mn-ea"/>
                  <a:cs typeface="+mn-cs"/>
                </a:rPr>
                <a:t>CyperQuery</a:t>
              </a:r>
              <a:endParaRPr kumimoji="0" lang="en-US" sz="950" b="0" i="0" u="none" strike="noStrike" kern="0" cap="none" spc="-10" normalizeH="0" baseline="0" noProof="0">
                <a:ln>
                  <a:noFill/>
                </a:ln>
                <a:solidFill>
                  <a:srgbClr val="000000"/>
                </a:solidFill>
                <a:effectLst/>
                <a:uLnTx/>
                <a:uFillTx/>
                <a:latin typeface="EYInterstate Light"/>
                <a:ea typeface="+mn-ea"/>
                <a:cs typeface="+mn-cs"/>
              </a:endParaRPr>
            </a:p>
            <a:p>
              <a:pPr marL="143510" marR="0" lvl="1" indent="-143510" algn="l" defTabSz="890956" rtl="0" eaLnBrk="1" fontAlgn="base"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Specializations: Data pipelines, data modelling, ETL/ELT design, performance optimization, system implementation, platform operations</a:t>
              </a:r>
            </a:p>
          </p:txBody>
        </p:sp>
        <p:sp>
          <p:nvSpPr>
            <p:cNvPr id="31" name="Rectangle: Top Corners Rounded 26">
              <a:extLst>
                <a:ext uri="{FF2B5EF4-FFF2-40B4-BE49-F238E27FC236}">
                  <a16:creationId xmlns:a16="http://schemas.microsoft.com/office/drawing/2014/main" id="{AAB9BB8C-2A9A-FF7C-EFB3-89D8046E67C8}"/>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68ED4F37-8A00-E7D1-DF04-DDD813CF7017}"/>
              </a:ext>
            </a:extLst>
          </p:cNvPr>
          <p:cNvGraphicFramePr>
            <a:graphicFrameLocks noGrp="1"/>
          </p:cNvGraphicFramePr>
          <p:nvPr/>
        </p:nvGraphicFramePr>
        <p:xfrm>
          <a:off x="729465" y="3408924"/>
          <a:ext cx="4993241" cy="813172"/>
        </p:xfrm>
        <a:graphic>
          <a:graphicData uri="http://schemas.openxmlformats.org/drawingml/2006/table">
            <a:tbl>
              <a:tblPr firstRow="1" bandRow="1">
                <a:tableStyleId>{073A0DAA-6AF3-43AB-8588-CEC1D06C72B9}</a:tableStyleId>
              </a:tblPr>
              <a:tblGrid>
                <a:gridCol w="804060">
                  <a:extLst>
                    <a:ext uri="{9D8B030D-6E8A-4147-A177-3AD203B41FA5}">
                      <a16:colId xmlns:a16="http://schemas.microsoft.com/office/drawing/2014/main" val="633756900"/>
                    </a:ext>
                  </a:extLst>
                </a:gridCol>
                <a:gridCol w="4189181">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lang="en-IN" sz="900">
                          <a:solidFill>
                            <a:schemeClr val="bg1">
                              <a:lumMod val="50000"/>
                            </a:schemeClr>
                          </a:solidFill>
                        </a:rPr>
                        <a:t>2013-2016</a:t>
                      </a:r>
                    </a:p>
                    <a:p>
                      <a:endParaRPr lang="en-IN" sz="900">
                        <a:solidFill>
                          <a:schemeClr val="bg1"/>
                        </a:solidFill>
                      </a:endParaRPr>
                    </a:p>
                  </a:txBody>
                  <a:tcPr marL="91392" marR="91392" marT="28373" marB="28373"/>
                </a:tc>
                <a:tc>
                  <a:txBody>
                    <a:bodyPr/>
                    <a:lstStyle/>
                    <a:p>
                      <a:r>
                        <a:rPr lang="en-US" sz="900">
                          <a:solidFill>
                            <a:schemeClr val="bg1">
                              <a:lumMod val="50000"/>
                            </a:schemeClr>
                          </a:solidFill>
                        </a:rPr>
                        <a:t>Bachelor of Science (Hons) Statistical Computing and Operation Research</a:t>
                      </a:r>
                    </a:p>
                    <a:p>
                      <a:r>
                        <a:rPr lang="en-US" sz="900">
                          <a:solidFill>
                            <a:schemeClr val="bg1">
                              <a:lumMod val="50000"/>
                            </a:schemeClr>
                          </a:solidFill>
                        </a:rPr>
                        <a:t>University Tunku Abdul Rahman (UTAR), Malaysia</a:t>
                      </a:r>
                    </a:p>
                  </a:txBody>
                  <a:tcPr marL="91392" marR="91392" marT="28373" marB="28373"/>
                </a:tc>
                <a:extLst>
                  <a:ext uri="{0D108BD9-81ED-4DB2-BD59-A6C34878D82A}">
                    <a16:rowId xmlns:a16="http://schemas.microsoft.com/office/drawing/2014/main" val="2160126882"/>
                  </a:ext>
                </a:extLst>
              </a:tr>
              <a:tr h="241053">
                <a:tc>
                  <a:txBody>
                    <a:bodyPr/>
                    <a:lstStyle/>
                    <a:p>
                      <a:r>
                        <a:rPr lang="en-IN" sz="900">
                          <a:solidFill>
                            <a:schemeClr val="bg1">
                              <a:lumMod val="50000"/>
                            </a:schemeClr>
                          </a:solidFill>
                        </a:rPr>
                        <a:t>2012-2013</a:t>
                      </a:r>
                    </a:p>
                  </a:txBody>
                  <a:tcPr marL="91392" marR="91392" marT="28373" marB="28373"/>
                </a:tc>
                <a:tc>
                  <a:txBody>
                    <a:bodyPr/>
                    <a:lstStyle/>
                    <a:p>
                      <a:r>
                        <a:rPr lang="en-US" sz="900">
                          <a:solidFill>
                            <a:schemeClr val="bg1">
                              <a:lumMod val="50000"/>
                            </a:schemeClr>
                          </a:solidFill>
                        </a:rPr>
                        <a:t>Foundation in Science University Tunku Abdul Rahman (UTAR), Malaysia</a:t>
                      </a:r>
                    </a:p>
                  </a:txBody>
                  <a:tcPr marL="91392" marR="91392" marT="28373" marB="28373"/>
                </a:tc>
                <a:extLst>
                  <a:ext uri="{0D108BD9-81ED-4DB2-BD59-A6C34878D82A}">
                    <a16:rowId xmlns:a16="http://schemas.microsoft.com/office/drawing/2014/main" val="54721795"/>
                  </a:ext>
                </a:extLst>
              </a:tr>
            </a:tbl>
          </a:graphicData>
        </a:graphic>
      </p:graphicFrame>
      <p:sp>
        <p:nvSpPr>
          <p:cNvPr id="5" name="Rectangle 4">
            <a:extLst>
              <a:ext uri="{FF2B5EF4-FFF2-40B4-BE49-F238E27FC236}">
                <a16:creationId xmlns:a16="http://schemas.microsoft.com/office/drawing/2014/main" id="{160645FA-9C6C-F3A5-1532-E024C36F6277}"/>
              </a:ext>
            </a:extLst>
          </p:cNvPr>
          <p:cNvSpPr>
            <a:spLocks noChangeArrowheads="1"/>
          </p:cNvSpPr>
          <p:nvPr/>
        </p:nvSpPr>
        <p:spPr bwMode="auto">
          <a:xfrm>
            <a:off x="6187994" y="1841725"/>
            <a:ext cx="5392186" cy="2519801"/>
          </a:xfrm>
          <a:prstGeom prst="rect">
            <a:avLst/>
          </a:prstGeom>
          <a:noFill/>
          <a:ln>
            <a:noFill/>
          </a:ln>
        </p:spPr>
        <p:txBody>
          <a:bodyPr wrap="square" lIns="53916" tIns="53916" rIns="53916" bIns="53916" anchor="t">
            <a:spAutoFit/>
          </a:bodyPr>
          <a:lstStyle/>
          <a:p>
            <a:pPr marL="0" marR="0" lvl="0" indent="0" algn="l" defTabSz="851471" rtl="0" eaLnBrk="1" fontAlgn="base" latinLnBrk="0" hangingPunct="1">
              <a:lnSpc>
                <a:spcPct val="100000"/>
              </a:lnSpc>
              <a:spcBef>
                <a:spcPts val="0"/>
              </a:spcBef>
              <a:spcAft>
                <a:spcPts val="100"/>
              </a:spcAft>
              <a:buClr>
                <a:srgbClr val="000000"/>
              </a:buClr>
              <a:buSzPct val="100000"/>
              <a:buFontTx/>
              <a:buNone/>
              <a:tabLst/>
              <a:defRPr/>
            </a:pPr>
            <a:r>
              <a:rPr kumimoji="0" lang="en-US" sz="1000" b="1" i="0" u="none" strike="noStrike" kern="1200" cap="none" spc="0" normalizeH="0" baseline="0" noProof="0" dirty="0">
                <a:ln>
                  <a:noFill/>
                </a:ln>
                <a:solidFill>
                  <a:srgbClr val="1A1A24"/>
                </a:solidFill>
                <a:effectLst/>
                <a:uLnTx/>
                <a:uFillTx/>
                <a:latin typeface="EYInterstate Regular" panose="02000503020000020004" pitchFamily="2" charset="0"/>
                <a:ea typeface="Arial Unicode MS" pitchFamily="34" charset="-128"/>
                <a:cs typeface="+mn-cs"/>
              </a:rPr>
              <a:t>SCRUM Master – Masked</a:t>
            </a:r>
          </a:p>
          <a:p>
            <a:pPr marL="172800" marR="0" lvl="0" indent="-172800" algn="l" defTabSz="851471" rtl="0" eaLnBrk="1" fontAlgn="base" latinLnBrk="0" hangingPunct="1">
              <a:lnSpc>
                <a:spcPct val="100000"/>
              </a:lnSpc>
              <a:spcBef>
                <a:spcPts val="0"/>
              </a:spcBef>
              <a:spcAft>
                <a:spcPts val="100"/>
              </a:spcAft>
              <a:buClr>
                <a:srgbClr val="000000"/>
              </a:buClr>
              <a:buSzPct val="100000"/>
              <a:buFont typeface="EYInterstate Light" panose="02000506000000020004" pitchFamily="2" charset="0"/>
              <a:buChar char="•"/>
              <a:tabLst/>
              <a:defRPr/>
            </a:pPr>
            <a:r>
              <a:rPr kumimoji="0" lang="en-US" sz="1000" b="0" i="0" u="none" strike="noStrike" kern="1200" cap="none" spc="0" normalizeH="0" baseline="0" noProof="0" dirty="0">
                <a:ln>
                  <a:noFill/>
                </a:ln>
                <a:solidFill>
                  <a:srgbClr val="1A1A24"/>
                </a:solidFill>
                <a:effectLst/>
                <a:uLnTx/>
                <a:uFillTx/>
                <a:latin typeface="EYInterstate Light"/>
                <a:ea typeface="Arial Unicode MS" pitchFamily="34" charset="-128"/>
                <a:cs typeface="+mn-cs"/>
              </a:rPr>
              <a:t>Led Agile project delivery by planning, executing, and tracking sprints to meet project scope, timeline, and quality objectives</a:t>
            </a:r>
          </a:p>
          <a:p>
            <a:pPr marL="172800" marR="0" lvl="0" indent="-172800" algn="l" defTabSz="851471" rtl="0" eaLnBrk="1" fontAlgn="base" latinLnBrk="0" hangingPunct="1">
              <a:lnSpc>
                <a:spcPct val="100000"/>
              </a:lnSpc>
              <a:spcBef>
                <a:spcPts val="0"/>
              </a:spcBef>
              <a:spcAft>
                <a:spcPts val="100"/>
              </a:spcAft>
              <a:buClr>
                <a:srgbClr val="000000"/>
              </a:buClr>
              <a:buSzPct val="100000"/>
              <a:buFont typeface="EYInterstate Light" panose="02000506000000020004" pitchFamily="2" charset="0"/>
              <a:buChar char="•"/>
              <a:tabLst/>
              <a:defRPr/>
            </a:pPr>
            <a:r>
              <a:rPr kumimoji="0" lang="en-US" sz="1000" b="0" i="0" u="none" strike="noStrike" kern="1200" cap="none" spc="0" normalizeH="0" baseline="0" noProof="0" dirty="0">
                <a:ln>
                  <a:noFill/>
                </a:ln>
                <a:solidFill>
                  <a:srgbClr val="1A1A24"/>
                </a:solidFill>
                <a:effectLst/>
                <a:uLnTx/>
                <a:uFillTx/>
                <a:latin typeface="EYInterstate Light"/>
                <a:ea typeface="Arial Unicode MS" pitchFamily="34" charset="-128"/>
                <a:cs typeface="+mn-cs"/>
              </a:rPr>
              <a:t>Managed end‑to‑end delivery across cross‑functional teams, coordinating dependencies, risks, and resource alignment</a:t>
            </a:r>
          </a:p>
          <a:p>
            <a:pPr marL="172800" marR="0" lvl="0" indent="-172800" algn="l" defTabSz="851471" rtl="0" eaLnBrk="1" fontAlgn="base" latinLnBrk="0" hangingPunct="1">
              <a:lnSpc>
                <a:spcPct val="100000"/>
              </a:lnSpc>
              <a:spcBef>
                <a:spcPts val="0"/>
              </a:spcBef>
              <a:spcAft>
                <a:spcPts val="100"/>
              </a:spcAft>
              <a:buClr>
                <a:srgbClr val="000000"/>
              </a:buClr>
              <a:buSzPct val="100000"/>
              <a:buFont typeface="EYInterstate Light" panose="02000506000000020004" pitchFamily="2" charset="0"/>
              <a:buChar char="•"/>
              <a:tabLst/>
              <a:defRPr/>
            </a:pPr>
            <a:r>
              <a:rPr kumimoji="0" lang="en-US" sz="1000" b="0" i="0" u="none" strike="noStrike" kern="1200" cap="none" spc="0" normalizeH="0" baseline="0" noProof="0" dirty="0">
                <a:ln>
                  <a:noFill/>
                </a:ln>
                <a:solidFill>
                  <a:srgbClr val="1A1A24"/>
                </a:solidFill>
                <a:effectLst/>
                <a:uLnTx/>
                <a:uFillTx/>
                <a:latin typeface="EYInterstate Light"/>
                <a:ea typeface="Arial Unicode MS" pitchFamily="34" charset="-128"/>
                <a:cs typeface="+mn-cs"/>
              </a:rPr>
              <a:t>Collaborated with Product Owners and stakeholders to translate business requirements into prioritized delivery plans and sprint backlogs</a:t>
            </a:r>
          </a:p>
          <a:p>
            <a:pPr marL="0" marR="0" lvl="0" indent="0" algn="l" defTabSz="851471" rtl="0" eaLnBrk="1" fontAlgn="base" latinLnBrk="0" hangingPunct="1">
              <a:lnSpc>
                <a:spcPct val="100000"/>
              </a:lnSpc>
              <a:spcBef>
                <a:spcPts val="0"/>
              </a:spcBef>
              <a:spcAft>
                <a:spcPts val="100"/>
              </a:spcAft>
              <a:buClr>
                <a:srgbClr val="000000"/>
              </a:buClr>
              <a:buSzPct val="100000"/>
              <a:buFontTx/>
              <a:buNone/>
              <a:tabLst/>
              <a:defRPr/>
            </a:pPr>
            <a:endParaRPr kumimoji="0" lang="en-US" sz="1000" b="1" i="0" u="none" strike="noStrike" kern="1200" cap="none" spc="0" normalizeH="0" baseline="0" noProof="0" dirty="0">
              <a:ln>
                <a:noFill/>
              </a:ln>
              <a:solidFill>
                <a:srgbClr val="1A1A24"/>
              </a:solidFill>
              <a:effectLst/>
              <a:uLnTx/>
              <a:uFillTx/>
              <a:latin typeface="EYInterstate Regular" panose="02000503020000020004" pitchFamily="2" charset="0"/>
              <a:ea typeface="Arial Unicode MS" pitchFamily="34" charset="-128"/>
              <a:cs typeface="+mn-cs"/>
            </a:endParaRPr>
          </a:p>
          <a:p>
            <a:pPr marL="0" marR="0" lvl="0" indent="0" algn="l" defTabSz="851471" rtl="0" eaLnBrk="1" fontAlgn="base" latinLnBrk="0" hangingPunct="1">
              <a:lnSpc>
                <a:spcPct val="100000"/>
              </a:lnSpc>
              <a:spcBef>
                <a:spcPts val="0"/>
              </a:spcBef>
              <a:spcAft>
                <a:spcPts val="100"/>
              </a:spcAft>
              <a:buClr>
                <a:srgbClr val="000000"/>
              </a:buClr>
              <a:buSzPct val="100000"/>
              <a:buFontTx/>
              <a:buNone/>
              <a:tabLst/>
              <a:defRPr/>
            </a:pPr>
            <a:r>
              <a:rPr kumimoji="0" lang="en-US" sz="1000" b="1" i="0" u="none" strike="noStrike" kern="1200" cap="none" spc="0" normalizeH="0" baseline="0" noProof="0" dirty="0">
                <a:ln>
                  <a:noFill/>
                </a:ln>
                <a:solidFill>
                  <a:srgbClr val="1A1A24"/>
                </a:solidFill>
                <a:effectLst/>
                <a:uLnTx/>
                <a:uFillTx/>
                <a:latin typeface="EYInterstate Regular" panose="02000503020000020004" pitchFamily="2" charset="0"/>
                <a:ea typeface="Arial Unicode MS" pitchFamily="34" charset="-128"/>
                <a:cs typeface="+mn-cs"/>
              </a:rPr>
              <a:t>Lead Data Engineer – Analytical System Implementation (Client – Singapore Government Agencies)</a:t>
            </a:r>
            <a:endParaRPr kumimoji="0" lang="en-US" sz="1000" b="0" i="0" u="none" strike="noStrike" kern="1200" cap="none" spc="0" normalizeH="0" baseline="0" noProof="0" dirty="0">
              <a:ln>
                <a:noFill/>
              </a:ln>
              <a:solidFill>
                <a:srgbClr val="1A1A24"/>
              </a:solidFill>
              <a:effectLst/>
              <a:uLnTx/>
              <a:uFillTx/>
              <a:latin typeface="EYInterstate Light"/>
              <a:ea typeface="Arial Unicode MS" pitchFamily="34" charset="-128"/>
              <a:cs typeface="+mn-cs"/>
            </a:endParaRPr>
          </a:p>
          <a:p>
            <a:pPr marL="172800" marR="0" lvl="0" indent="-172800" algn="l" defTabSz="851471" rtl="0" eaLnBrk="1" fontAlgn="base" latinLnBrk="0" hangingPunct="1">
              <a:lnSpc>
                <a:spcPct val="100000"/>
              </a:lnSpc>
              <a:spcBef>
                <a:spcPts val="0"/>
              </a:spcBef>
              <a:spcAft>
                <a:spcPts val="100"/>
              </a:spcAft>
              <a:buClr>
                <a:srgbClr val="000000"/>
              </a:buClr>
              <a:buSzPct val="100000"/>
              <a:buFont typeface="EYInterstate Light" panose="02000506000000020004" pitchFamily="2" charset="0"/>
              <a:buChar char="•"/>
              <a:tabLst/>
              <a:defRPr/>
            </a:pPr>
            <a:r>
              <a:rPr kumimoji="0" lang="en-US" sz="1000" b="0" i="0" u="none" strike="noStrike" kern="1200" cap="none" spc="0" normalizeH="0" baseline="0" noProof="0" dirty="0">
                <a:ln>
                  <a:noFill/>
                </a:ln>
                <a:solidFill>
                  <a:srgbClr val="1A1A24"/>
                </a:solidFill>
                <a:effectLst/>
                <a:uLnTx/>
                <a:uFillTx/>
                <a:latin typeface="EYInterstate Light"/>
                <a:ea typeface="Arial Unicode MS" pitchFamily="34" charset="-128"/>
                <a:cs typeface="+mn-cs"/>
              </a:rPr>
              <a:t>Led end‑to‑end system implementation for a Financial Crime Investigation platform, overseeing requirement discovery, solution design, data integration, testing cycles, deployment, and post‑implementation </a:t>
            </a:r>
            <a:r>
              <a:rPr kumimoji="0" lang="en-US" sz="1000" b="0" i="0" u="none" strike="noStrike" kern="1200" cap="none" spc="0" normalizeH="0" baseline="0" noProof="0" dirty="0" err="1">
                <a:ln>
                  <a:noFill/>
                </a:ln>
                <a:solidFill>
                  <a:srgbClr val="1A1A24"/>
                </a:solidFill>
                <a:effectLst/>
                <a:uLnTx/>
                <a:uFillTx/>
                <a:latin typeface="EYInterstate Light"/>
                <a:ea typeface="Arial Unicode MS" pitchFamily="34" charset="-128"/>
                <a:cs typeface="+mn-cs"/>
              </a:rPr>
              <a:t>support.</a:t>
            </a:r>
            <a:r>
              <a:rPr kumimoji="0" lang="en-US" sz="1000" b="0" i="0" u="none" strike="noStrike" kern="1200" cap="none" spc="0" normalizeH="0" baseline="0" noProof="0" dirty="0" err="1">
                <a:ln>
                  <a:noFill/>
                </a:ln>
                <a:solidFill>
                  <a:srgbClr val="1A1A24">
                    <a:lumMod val="50000"/>
                  </a:srgbClr>
                </a:solidFill>
                <a:effectLst/>
                <a:uLnTx/>
                <a:uFillTx/>
                <a:latin typeface="EYInterstate Light"/>
                <a:ea typeface="+mn-ea"/>
                <a:cs typeface="+mn-cs"/>
              </a:rPr>
              <a:t>Delivered</a:t>
            </a:r>
            <a:r>
              <a:rPr kumimoji="0" lang="en-US" sz="1000" b="0" i="0" u="none" strike="noStrike" kern="1200" cap="none" spc="0" normalizeH="0" baseline="0" noProof="0" dirty="0">
                <a:ln>
                  <a:noFill/>
                </a:ln>
                <a:solidFill>
                  <a:srgbClr val="1A1A24">
                    <a:lumMod val="50000"/>
                  </a:srgbClr>
                </a:solidFill>
                <a:effectLst/>
                <a:uLnTx/>
                <a:uFillTx/>
                <a:latin typeface="EYInterstate Light"/>
                <a:ea typeface="+mn-ea"/>
                <a:cs typeface="+mn-cs"/>
              </a:rPr>
              <a:t> robust data models to support analytics, reporting, and UI applications.</a:t>
            </a:r>
            <a:endParaRPr kumimoji="0" lang="en-US" sz="1000" b="0" i="0" u="none" strike="noStrike" kern="1200" cap="none" spc="0" normalizeH="0" baseline="0" noProof="0" dirty="0">
              <a:ln>
                <a:noFill/>
              </a:ln>
              <a:solidFill>
                <a:srgbClr val="1A1A24">
                  <a:lumMod val="50000"/>
                </a:srgbClr>
              </a:solidFill>
              <a:effectLst/>
              <a:uLnTx/>
              <a:uFillTx/>
              <a:latin typeface="EYInterstate Light"/>
              <a:ea typeface="Arial Unicode MS" pitchFamily="34" charset="-128"/>
              <a:cs typeface="+mn-cs"/>
            </a:endParaRPr>
          </a:p>
          <a:p>
            <a:pPr marL="172800" marR="0" lvl="0" indent="-172800" algn="l" defTabSz="851471" rtl="0" eaLnBrk="1" fontAlgn="base" latinLnBrk="0" hangingPunct="1">
              <a:lnSpc>
                <a:spcPct val="100000"/>
              </a:lnSpc>
              <a:spcBef>
                <a:spcPts val="0"/>
              </a:spcBef>
              <a:spcAft>
                <a:spcPts val="100"/>
              </a:spcAft>
              <a:buClr>
                <a:srgbClr val="000000"/>
              </a:buClr>
              <a:buSzPct val="100000"/>
              <a:buFont typeface="EYInterstate Light" panose="02000506000000020004" pitchFamily="2" charset="0"/>
              <a:buChar char="•"/>
              <a:tabLst/>
              <a:defRPr/>
            </a:pPr>
            <a:r>
              <a:rPr kumimoji="0" lang="en-US" sz="1000" b="0" i="0" u="none" strike="noStrike" kern="1200" cap="none" spc="0" normalizeH="0" baseline="0" noProof="0" dirty="0">
                <a:ln>
                  <a:noFill/>
                </a:ln>
                <a:solidFill>
                  <a:srgbClr val="1A1A24"/>
                </a:solidFill>
                <a:effectLst/>
                <a:uLnTx/>
                <a:uFillTx/>
                <a:latin typeface="EYInterstate Light"/>
                <a:ea typeface="Arial Unicode MS" pitchFamily="34" charset="-128"/>
                <a:cs typeface="+mn-cs"/>
              </a:rPr>
              <a:t>Automated data cleansing, validation, enrichment, and reconciliation steps.</a:t>
            </a:r>
          </a:p>
        </p:txBody>
      </p:sp>
      <p:sp>
        <p:nvSpPr>
          <p:cNvPr id="2" name="TextBox 1">
            <a:extLst>
              <a:ext uri="{FF2B5EF4-FFF2-40B4-BE49-F238E27FC236}">
                <a16:creationId xmlns:a16="http://schemas.microsoft.com/office/drawing/2014/main" id="{D1B610CF-8E3D-5204-B3E6-713C7F5E73C7}"/>
              </a:ext>
            </a:extLst>
          </p:cNvPr>
          <p:cNvSpPr txBox="1"/>
          <p:nvPr/>
        </p:nvSpPr>
        <p:spPr>
          <a:xfrm>
            <a:off x="3162509" y="4519518"/>
            <a:ext cx="2855739" cy="1715854"/>
          </a:xfrm>
          <a:prstGeom prst="rect">
            <a:avLst/>
          </a:prstGeom>
          <a:noFill/>
        </p:spPr>
        <p:txBody>
          <a:bodyPr wrap="square">
            <a:spAutoFit/>
          </a:bodyPr>
          <a:lstStyle/>
          <a:p>
            <a:pPr marL="143510" marR="0" lvl="1" indent="-143510" algn="l" defTabSz="890956" rtl="0" eaLnBrk="1" fontAlgn="base"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Microsoft Certified Fabric Analytics Engineer Associate​, Microsoft Certified Azure AI Fundamentals​, Microsoft Power BI ​</a:t>
            </a:r>
          </a:p>
          <a:p>
            <a:pPr marL="143510" marR="0" lvl="1" indent="-143510" algn="l" defTabSz="890956" rtl="0" eaLnBrk="1" fontAlgn="base"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Databricks Certified Generative AI Engineer Associate</a:t>
            </a:r>
          </a:p>
          <a:p>
            <a:pPr marL="143510" marR="0" lvl="1" indent="-143510" algn="l" defTabSz="890956" rtl="0" eaLnBrk="1" fontAlgn="base"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AWS Certified Cloud Practitioner​</a:t>
            </a:r>
          </a:p>
          <a:p>
            <a:pPr marL="143510" marR="0" lvl="1" indent="-143510" algn="l" defTabSz="890956" rtl="0" eaLnBrk="1" fontAlgn="base"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err="1">
                <a:ln>
                  <a:noFill/>
                </a:ln>
                <a:solidFill>
                  <a:srgbClr val="000000"/>
                </a:solidFill>
                <a:effectLst/>
                <a:uLnTx/>
                <a:uFillTx/>
                <a:latin typeface="EYInterstate Light"/>
                <a:ea typeface="+mn-ea"/>
                <a:cs typeface="+mn-cs"/>
              </a:rPr>
              <a:t>AgilePM</a:t>
            </a:r>
            <a:r>
              <a:rPr kumimoji="0" lang="en-US" sz="950" b="0" i="0" u="none" strike="noStrike" kern="0" cap="none" spc="-10" normalizeH="0" baseline="0" noProof="0">
                <a:ln>
                  <a:noFill/>
                </a:ln>
                <a:solidFill>
                  <a:srgbClr val="000000"/>
                </a:solidFill>
                <a:effectLst/>
                <a:uLnTx/>
                <a:uFillTx/>
                <a:latin typeface="EYInterstate Light"/>
                <a:ea typeface="+mn-ea"/>
                <a:cs typeface="+mn-cs"/>
              </a:rPr>
              <a:t> Foundation​ and </a:t>
            </a:r>
            <a:r>
              <a:rPr kumimoji="0" lang="en-US" sz="950" b="0" i="0" u="none" strike="noStrike" kern="0" cap="none" spc="-10" normalizeH="0" baseline="0" noProof="0" err="1">
                <a:ln>
                  <a:noFill/>
                </a:ln>
                <a:solidFill>
                  <a:srgbClr val="000000"/>
                </a:solidFill>
                <a:effectLst/>
                <a:uLnTx/>
                <a:uFillTx/>
                <a:latin typeface="EYInterstate Light"/>
                <a:ea typeface="+mn-ea"/>
                <a:cs typeface="+mn-cs"/>
              </a:rPr>
              <a:t>AgilePM</a:t>
            </a:r>
            <a:r>
              <a:rPr kumimoji="0" lang="en-US" sz="950" b="0" i="0" u="none" strike="noStrike" kern="0" cap="none" spc="-10" normalizeH="0" baseline="0" noProof="0">
                <a:ln>
                  <a:noFill/>
                </a:ln>
                <a:solidFill>
                  <a:srgbClr val="000000"/>
                </a:solidFill>
                <a:effectLst/>
                <a:uLnTx/>
                <a:uFillTx/>
                <a:latin typeface="EYInterstate Light"/>
                <a:ea typeface="+mn-ea"/>
                <a:cs typeface="+mn-cs"/>
              </a:rPr>
              <a:t> Practitioner​</a:t>
            </a:r>
          </a:p>
          <a:p>
            <a:pPr marL="143510" marR="0" lvl="1" indent="-143510" algn="l" defTabSz="890956" rtl="0" eaLnBrk="1" fontAlgn="base"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SAS Associate Programming Fundamentals using SAS 9.4​</a:t>
            </a:r>
          </a:p>
        </p:txBody>
      </p:sp>
    </p:spTree>
    <p:extLst>
      <p:ext uri="{BB962C8B-B14F-4D97-AF65-F5344CB8AC3E}">
        <p14:creationId xmlns:p14="http://schemas.microsoft.com/office/powerpoint/2010/main" val="1261441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B7A4D-37C6-CD04-33A7-9C75105961C4}"/>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96F64F29-6961-A4A6-6F3B-BFB61025174B}"/>
              </a:ext>
            </a:extLst>
          </p:cNvPr>
          <p:cNvGrpSpPr/>
          <p:nvPr/>
        </p:nvGrpSpPr>
        <p:grpSpPr>
          <a:xfrm>
            <a:off x="6187993" y="1669244"/>
            <a:ext cx="5392187" cy="590101"/>
            <a:chOff x="6191309" y="1666487"/>
            <a:chExt cx="5400616" cy="591024"/>
          </a:xfrm>
        </p:grpSpPr>
        <p:sp>
          <p:nvSpPr>
            <p:cNvPr id="17" name="Rectangle 16">
              <a:extLst>
                <a:ext uri="{FF2B5EF4-FFF2-40B4-BE49-F238E27FC236}">
                  <a16:creationId xmlns:a16="http://schemas.microsoft.com/office/drawing/2014/main" id="{E45922ED-8657-2F4D-FF40-843128F2555A}"/>
                </a:ext>
              </a:extLst>
            </p:cNvPr>
            <p:cNvSpPr>
              <a:spLocks noChangeArrowheads="1"/>
            </p:cNvSpPr>
            <p:nvPr/>
          </p:nvSpPr>
          <p:spPr bwMode="auto">
            <a:xfrm>
              <a:off x="6191309" y="1994327"/>
              <a:ext cx="5400615" cy="263184"/>
            </a:xfrm>
            <a:prstGeom prst="rect">
              <a:avLst/>
            </a:prstGeom>
            <a:noFill/>
            <a:ln>
              <a:noFill/>
            </a:ln>
          </p:spPr>
          <p:txBody>
            <a:bodyPr wrap="square" lIns="53916" tIns="53916" rIns="53916" bIns="53916" anchor="t">
              <a:spAutoFit/>
            </a:bodyPr>
            <a:lstStyle/>
            <a:p>
              <a:pPr marL="628650" marR="0" lvl="1" indent="-171450" algn="l" defTabSz="890511" rtl="0" eaLnBrk="1" fontAlgn="auto" latinLnBrk="0" hangingPunct="1">
                <a:lnSpc>
                  <a:spcPct val="100000"/>
                </a:lnSpc>
                <a:spcBef>
                  <a:spcPts val="0"/>
                </a:spcBef>
                <a:spcAft>
                  <a:spcPts val="200"/>
                </a:spcAft>
                <a:buClrTx/>
                <a:buSzPct val="100000"/>
                <a:buFont typeface="Arial" panose="02000503020000020004" pitchFamily="2" charset="0"/>
                <a:buChar char="•"/>
                <a:tabLst/>
                <a:defRPr/>
              </a:pPr>
              <a:endParaRPr kumimoji="0" lang="en-US" sz="1000" b="0" i="0" u="none" strike="noStrike" kern="0" cap="none" spc="-10" normalizeH="0" baseline="0" noProof="0">
                <a:ln>
                  <a:noFill/>
                </a:ln>
                <a:solidFill>
                  <a:srgbClr val="000000"/>
                </a:solidFill>
                <a:effectLst/>
                <a:uLnTx/>
                <a:uFillTx/>
                <a:latin typeface="EYInterstate Light"/>
                <a:ea typeface="+mn-ea"/>
                <a:cs typeface="+mn-cs"/>
              </a:endParaRPr>
            </a:p>
          </p:txBody>
        </p:sp>
        <p:sp>
          <p:nvSpPr>
            <p:cNvPr id="18" name="Rectangle: Rounded Corners 17">
              <a:extLst>
                <a:ext uri="{FF2B5EF4-FFF2-40B4-BE49-F238E27FC236}">
                  <a16:creationId xmlns:a16="http://schemas.microsoft.com/office/drawing/2014/main" id="{4ECC660E-8731-4183-1B82-0D96544579C7}"/>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479F4D55-02E5-EEE7-D4A5-4BE65AA43EDB}"/>
              </a:ext>
            </a:extLst>
          </p:cNvPr>
          <p:cNvSpPr txBox="1">
            <a:spLocks noChangeArrowheads="1"/>
          </p:cNvSpPr>
          <p:nvPr/>
        </p:nvSpPr>
        <p:spPr bwMode="auto">
          <a:xfrm>
            <a:off x="2499832" y="523661"/>
            <a:ext cx="5429088" cy="654025"/>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marL="0" marR="0" lvl="0" indent="0" algn="l" defTabSz="912499" rtl="0" eaLnBrk="1" fontAlgn="auto" latinLnBrk="0" hangingPunct="1">
              <a:lnSpc>
                <a:spcPct val="100000"/>
              </a:lnSpc>
              <a:spcBef>
                <a:spcPts val="0"/>
              </a:spcBef>
              <a:spcAft>
                <a:spcPts val="0"/>
              </a:spcAft>
              <a:buClr>
                <a:srgbClr val="000000"/>
              </a:buClr>
              <a:buSzPct val="80000"/>
              <a:buFontTx/>
              <a:buNone/>
              <a:tabLst>
                <a:tab pos="475260" algn="l"/>
                <a:tab pos="1140623" algn="l"/>
              </a:tabLst>
              <a:defRPr/>
            </a:pPr>
            <a:r>
              <a:rPr kumimoji="0" lang="en-GB" sz="1750" b="1" i="0" u="none" strike="noStrike" kern="1200" cap="none" spc="0" normalizeH="0" baseline="0" noProof="0">
                <a:ln>
                  <a:noFill/>
                </a:ln>
                <a:solidFill>
                  <a:srgbClr val="000000"/>
                </a:solidFill>
                <a:effectLst/>
                <a:uLnTx/>
                <a:uFillTx/>
                <a:latin typeface="EYInterstate"/>
                <a:ea typeface="宋体"/>
                <a:cs typeface="Arial"/>
                <a:sym typeface="Arial Unicode MS" pitchFamily="34" charset="-128"/>
              </a:rPr>
              <a:t>Grayson Sutedjo</a:t>
            </a:r>
            <a:endParaRPr kumimoji="0" lang="en-US" sz="993" b="1"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a:p>
            <a:pPr marL="0" marR="0" lvl="0" indent="0" algn="l" defTabSz="912499" rtl="0" eaLnBrk="1" fontAlgn="auto" latinLnBrk="0" hangingPunct="1">
              <a:lnSpc>
                <a:spcPct val="100000"/>
              </a:lnSpc>
              <a:spcBef>
                <a:spcPts val="0"/>
              </a:spcBef>
              <a:spcAft>
                <a:spcPts val="0"/>
              </a:spcAft>
              <a:buClr>
                <a:srgbClr val="000000"/>
              </a:buClr>
              <a:buSzPct val="80000"/>
              <a:buFontTx/>
              <a:buNone/>
              <a:tabLst>
                <a:tab pos="475260" algn="l"/>
                <a:tab pos="1140623" algn="l"/>
              </a:tabLst>
              <a:defRPr/>
            </a:pPr>
            <a:r>
              <a:rPr kumimoji="0" lang="it-IT" sz="900" b="1" i="0" u="none" strike="noStrike" kern="1200" cap="none" spc="0" normalizeH="0" baseline="0" noProof="0">
                <a:ln>
                  <a:noFill/>
                </a:ln>
                <a:solidFill>
                  <a:srgbClr val="000000"/>
                </a:solidFill>
                <a:effectLst/>
                <a:uLnTx/>
                <a:uFillTx/>
                <a:latin typeface="EYInterstate Light"/>
                <a:ea typeface="宋体"/>
                <a:cs typeface="Arial"/>
              </a:rPr>
              <a:t>Staff/Assistant, AI and Data, Singapore</a:t>
            </a:r>
            <a:endParaRPr kumimoji="0" lang="en-US" sz="900" b="1" i="0" u="none" strike="noStrike" kern="1200" cap="none" spc="0" normalizeH="0" baseline="0" noProof="0">
              <a:ln>
                <a:noFill/>
              </a:ln>
              <a:solidFill>
                <a:srgbClr val="000000"/>
              </a:solidFill>
              <a:effectLst/>
              <a:uLnTx/>
              <a:uFillTx/>
              <a:latin typeface="Arial" panose="020B0604020202020204" pitchFamily="34" charset="0"/>
              <a:ea typeface="宋体" pitchFamily="2" charset="-122"/>
              <a:cs typeface="Arial" panose="020B0604020202020204" pitchFamily="34" charset="0"/>
            </a:endParaRPr>
          </a:p>
          <a:p>
            <a:pPr marL="0" marR="0" lvl="1" indent="0" algn="l" defTabSz="1040779" rtl="0" eaLnBrk="1" fontAlgn="base" latinLnBrk="0" hangingPunct="1">
              <a:lnSpc>
                <a:spcPct val="100000"/>
              </a:lnSpc>
              <a:spcBef>
                <a:spcPts val="0"/>
              </a:spcBef>
              <a:spcAft>
                <a:spcPts val="0"/>
              </a:spcAft>
              <a:buClr>
                <a:srgbClr val="BC8E52"/>
              </a:buClr>
              <a:buSzPct val="80000"/>
              <a:buFontTx/>
              <a:buNone/>
              <a:tabLst/>
              <a:defRPr/>
            </a:pPr>
            <a:r>
              <a:rPr kumimoji="0" lang="it-IT" sz="950" b="0" i="0" u="none" strike="noStrike" kern="1200" cap="none" spc="0" normalizeH="0" baseline="0" noProof="0">
                <a:ln>
                  <a:noFill/>
                </a:ln>
                <a:solidFill>
                  <a:srgbClr val="000000"/>
                </a:solidFill>
                <a:effectLst/>
                <a:uLnTx/>
                <a:uFillTx/>
                <a:latin typeface="EYInterstate Light"/>
                <a:ea typeface="宋体"/>
                <a:cs typeface="Arial"/>
              </a:rPr>
              <a:t>Email: </a:t>
            </a:r>
            <a:r>
              <a:rPr kumimoji="0" lang="it-IT" sz="950" b="0" i="0" u="none" strike="noStrike" kern="1200" cap="none" spc="0" normalizeH="0" baseline="0" noProof="0">
                <a:ln>
                  <a:noFill/>
                </a:ln>
                <a:solidFill>
                  <a:srgbClr val="000000"/>
                </a:solidFill>
                <a:effectLst/>
                <a:uLnTx/>
                <a:uFillTx/>
                <a:latin typeface="EYInterstate Light"/>
                <a:ea typeface="+mn-lt"/>
                <a:cs typeface="+mn-lt"/>
              </a:rPr>
              <a:t>Grayson.Sutedjo@sg.ey.com</a:t>
            </a:r>
          </a:p>
        </p:txBody>
      </p:sp>
      <p:grpSp>
        <p:nvGrpSpPr>
          <p:cNvPr id="21" name="Group 16">
            <a:extLst>
              <a:ext uri="{FF2B5EF4-FFF2-40B4-BE49-F238E27FC236}">
                <a16:creationId xmlns:a16="http://schemas.microsoft.com/office/drawing/2014/main" id="{13EC5D1F-EDC9-455F-B0F0-8C67EC7E7CAC}"/>
              </a:ext>
            </a:extLst>
          </p:cNvPr>
          <p:cNvGrpSpPr/>
          <p:nvPr/>
        </p:nvGrpSpPr>
        <p:grpSpPr>
          <a:xfrm>
            <a:off x="616486" y="1668325"/>
            <a:ext cx="5322454" cy="582633"/>
            <a:chOff x="613951" y="1666489"/>
            <a:chExt cx="5328000" cy="583238"/>
          </a:xfrm>
        </p:grpSpPr>
        <p:sp>
          <p:nvSpPr>
            <p:cNvPr id="22" name="Rectangle 21">
              <a:extLst>
                <a:ext uri="{FF2B5EF4-FFF2-40B4-BE49-F238E27FC236}">
                  <a16:creationId xmlns:a16="http://schemas.microsoft.com/office/drawing/2014/main" id="{3798A1D1-B5F7-4958-C3C9-AE31E95FAD9F}"/>
                </a:ext>
              </a:extLst>
            </p:cNvPr>
            <p:cNvSpPr>
              <a:spLocks noChangeArrowheads="1"/>
            </p:cNvSpPr>
            <p:nvPr/>
          </p:nvSpPr>
          <p:spPr bwMode="auto">
            <a:xfrm>
              <a:off x="613951" y="1994327"/>
              <a:ext cx="5328000" cy="255400"/>
            </a:xfrm>
            <a:prstGeom prst="rect">
              <a:avLst/>
            </a:prstGeom>
            <a:noFill/>
            <a:ln>
              <a:noFill/>
            </a:ln>
          </p:spPr>
          <p:txBody>
            <a:bodyPr wrap="square" lIns="107888" tIns="71926" rIns="107888" bIns="35962" anchor="t">
              <a:spAutoFit/>
            </a:bodyPr>
            <a:lstStyle/>
            <a:p>
              <a:pPr marL="0" marR="0" lvl="1" indent="0" algn="l" defTabSz="890956" rtl="0" eaLnBrk="1" fontAlgn="auto" latinLnBrk="0" hangingPunct="1">
                <a:lnSpc>
                  <a:spcPct val="100000"/>
                </a:lnSpc>
                <a:spcBef>
                  <a:spcPts val="0"/>
                </a:spcBef>
                <a:spcAft>
                  <a:spcPts val="600"/>
                </a:spcAft>
                <a:buClrTx/>
                <a:buSzPct val="100000"/>
                <a:buFontTx/>
                <a:buNone/>
                <a:tabLst/>
                <a:defRPr/>
              </a:pPr>
              <a:endParaRPr kumimoji="0" lang="en-US" sz="950" b="0" i="0" u="none" strike="noStrike" kern="0" cap="none" spc="-10" normalizeH="0" baseline="0" noProof="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E5097B58-168C-5AD0-2BB2-F8BFE1870A47}"/>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8" name="Rectangle: Top Corners Rounded 23">
            <a:extLst>
              <a:ext uri="{FF2B5EF4-FFF2-40B4-BE49-F238E27FC236}">
                <a16:creationId xmlns:a16="http://schemas.microsoft.com/office/drawing/2014/main" id="{E9E681F7-C1B5-8654-CA0F-D45C65D2CBA4}"/>
              </a:ext>
            </a:extLst>
          </p:cNvPr>
          <p:cNvSpPr/>
          <p:nvPr/>
        </p:nvSpPr>
        <p:spPr>
          <a:xfrm rot="5400000">
            <a:off x="3115881" y="789122"/>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sp>
        <p:nvSpPr>
          <p:cNvPr id="9" name="Rectangle 21">
            <a:extLst>
              <a:ext uri="{FF2B5EF4-FFF2-40B4-BE49-F238E27FC236}">
                <a16:creationId xmlns:a16="http://schemas.microsoft.com/office/drawing/2014/main" id="{0A425ACA-F1B3-B346-8D51-023DBE06216E}"/>
              </a:ext>
            </a:extLst>
          </p:cNvPr>
          <p:cNvSpPr>
            <a:spLocks noChangeArrowheads="1"/>
          </p:cNvSpPr>
          <p:nvPr/>
        </p:nvSpPr>
        <p:spPr bwMode="auto">
          <a:xfrm>
            <a:off x="588729" y="4819785"/>
            <a:ext cx="5286492" cy="1409298"/>
          </a:xfrm>
          <a:prstGeom prst="rect">
            <a:avLst/>
          </a:prstGeom>
          <a:noFill/>
          <a:ln>
            <a:noFill/>
          </a:ln>
        </p:spPr>
        <p:txBody>
          <a:bodyPr wrap="square" lIns="107888" tIns="71926" rIns="107888" bIns="35962" anchor="t">
            <a:spAutoFit/>
          </a:bodyPr>
          <a:lstStyle/>
          <a:p>
            <a:pPr marL="0" marR="0" lvl="1" indent="0" algn="l" defTabSz="890956" rtl="0" eaLnBrk="1" fontAlgn="auto" latinLnBrk="0" hangingPunct="1">
              <a:lnSpc>
                <a:spcPct val="100000"/>
              </a:lnSpc>
              <a:spcBef>
                <a:spcPts val="0"/>
              </a:spcBef>
              <a:spcAft>
                <a:spcPts val="600"/>
              </a:spcAft>
              <a:buClrTx/>
              <a:buSzPct val="100000"/>
              <a:buFontTx/>
              <a:buNone/>
              <a:tabLst/>
              <a:defRPr/>
            </a:pPr>
            <a:endParaRPr kumimoji="0" lang="en-US" sz="1000" b="0" i="0" u="none" strike="noStrike" kern="0" cap="none" spc="-10" normalizeH="0" baseline="0" noProof="0">
              <a:ln>
                <a:noFill/>
              </a:ln>
              <a:solidFill>
                <a:srgbClr val="000000"/>
              </a:solidFill>
              <a:effectLst/>
              <a:uLnTx/>
              <a:uFillTx/>
              <a:latin typeface="EYInterstate Light"/>
              <a:ea typeface="+mn-ea"/>
              <a:cs typeface="+mn-cs"/>
            </a:endParaRPr>
          </a:p>
          <a:p>
            <a:pPr marL="143510" marR="0" lvl="1" indent="-143510" algn="l" defTabSz="890956" rtl="0" eaLnBrk="1" fontAlgn="auto" latinLnBrk="0" hangingPunct="1">
              <a:lnSpc>
                <a:spcPct val="100000"/>
              </a:lnSpc>
              <a:spcBef>
                <a:spcPts val="0"/>
              </a:spcBef>
              <a:spcAft>
                <a:spcPts val="600"/>
              </a:spcAft>
              <a:buClrTx/>
              <a:buSzTx/>
              <a:buFont typeface="EYInterstate,Sans-Serif" panose="02000503020000020004" pitchFamily="2" charset="0"/>
              <a:buChar char="•"/>
              <a:tabLst/>
              <a:defRPr/>
            </a:pPr>
            <a:r>
              <a:rPr kumimoji="0" lang="en-US" sz="1000" b="0" i="0" u="none" strike="noStrike" kern="0" cap="none" spc="-10" normalizeH="0" baseline="0" noProof="0">
                <a:ln>
                  <a:noFill/>
                </a:ln>
                <a:solidFill>
                  <a:srgbClr val="000000"/>
                </a:solidFill>
                <a:effectLst/>
                <a:uLnTx/>
                <a:uFillTx/>
                <a:latin typeface="EYInterstate Light"/>
                <a:ea typeface="+mn-ea"/>
                <a:cs typeface="+mn-cs"/>
              </a:rPr>
              <a:t>Programming: Python, </a:t>
            </a:r>
            <a:r>
              <a:rPr kumimoji="0" lang="en-US" sz="1000" b="0" i="0" u="none" strike="noStrike" kern="0" cap="none" spc="-10" normalizeH="0" baseline="0" noProof="0" err="1">
                <a:ln>
                  <a:noFill/>
                </a:ln>
                <a:solidFill>
                  <a:srgbClr val="000000"/>
                </a:solidFill>
                <a:effectLst/>
                <a:uLnTx/>
                <a:uFillTx/>
                <a:latin typeface="EYInterstate Light"/>
                <a:ea typeface="+mn-ea"/>
                <a:cs typeface="+mn-cs"/>
              </a:rPr>
              <a:t>PySpark</a:t>
            </a:r>
            <a:r>
              <a:rPr kumimoji="0" lang="en-US" sz="1000" b="0" i="0" u="none" strike="noStrike" kern="0" cap="none" spc="-10" normalizeH="0" baseline="0" noProof="0">
                <a:ln>
                  <a:noFill/>
                </a:ln>
                <a:solidFill>
                  <a:srgbClr val="000000"/>
                </a:solidFill>
                <a:effectLst/>
                <a:uLnTx/>
                <a:uFillTx/>
                <a:latin typeface="EYInterstate Light"/>
                <a:ea typeface="+mn-ea"/>
                <a:cs typeface="+mn-cs"/>
              </a:rPr>
              <a:t>,  Java, C++</a:t>
            </a:r>
            <a:endParaRPr kumimoji="0" lang="en-US" sz="1000" b="0" i="0" u="none" strike="noStrike" kern="0" cap="none" spc="-10" normalizeH="0" baseline="0" noProof="0">
              <a:ln>
                <a:noFill/>
              </a:ln>
              <a:solidFill>
                <a:srgbClr val="FFFFFF"/>
              </a:solidFill>
              <a:effectLst/>
              <a:uLnTx/>
              <a:uFillTx/>
              <a:latin typeface="EYInterstate Light"/>
              <a:ea typeface="+mn-ea"/>
              <a:cs typeface="+mn-cs"/>
            </a:endParaRPr>
          </a:p>
          <a:p>
            <a:pPr marL="143510" marR="0" lvl="1" indent="-143510" algn="l" defTabSz="890956" rtl="0" eaLnBrk="1" fontAlgn="auto" latinLnBrk="0" hangingPunct="1">
              <a:lnSpc>
                <a:spcPct val="100000"/>
              </a:lnSpc>
              <a:spcBef>
                <a:spcPts val="0"/>
              </a:spcBef>
              <a:spcAft>
                <a:spcPts val="600"/>
              </a:spcAft>
              <a:buClrTx/>
              <a:buSzTx/>
              <a:buFont typeface="EYInterstate,Sans-Serif" panose="02000503020000020004" pitchFamily="2" charset="0"/>
              <a:buChar char="•"/>
              <a:tabLst/>
              <a:defRPr/>
            </a:pPr>
            <a:r>
              <a:rPr kumimoji="0" lang="en-US" sz="1000" b="0" i="0" u="none" strike="noStrike" kern="0" cap="none" spc="-10" normalizeH="0" baseline="0" noProof="0">
                <a:ln>
                  <a:noFill/>
                </a:ln>
                <a:solidFill>
                  <a:srgbClr val="000000"/>
                </a:solidFill>
                <a:effectLst/>
                <a:uLnTx/>
                <a:uFillTx/>
                <a:latin typeface="EYInterstate Light"/>
                <a:ea typeface="+mn-ea"/>
                <a:cs typeface="+mn-cs"/>
              </a:rPr>
              <a:t>Cloud Platform: Azure, Anaplan</a:t>
            </a:r>
            <a:endParaRPr kumimoji="0" lang="en-US" sz="1000" b="0" i="0" u="none" strike="noStrike" kern="0" cap="none" spc="-10" normalizeH="0" baseline="0" noProof="0">
              <a:ln>
                <a:noFill/>
              </a:ln>
              <a:solidFill>
                <a:srgbClr val="FFFFFF"/>
              </a:solidFill>
              <a:effectLst/>
              <a:uLnTx/>
              <a:uFillTx/>
              <a:latin typeface="EYInterstate Light"/>
              <a:ea typeface="+mn-ea"/>
              <a:cs typeface="+mn-cs"/>
            </a:endParaRPr>
          </a:p>
          <a:p>
            <a:pPr marL="143510" marR="0" lvl="1" indent="-143510" algn="l" defTabSz="890956" rtl="0" eaLnBrk="1" fontAlgn="auto" latinLnBrk="0" hangingPunct="1">
              <a:lnSpc>
                <a:spcPct val="100000"/>
              </a:lnSpc>
              <a:spcBef>
                <a:spcPts val="0"/>
              </a:spcBef>
              <a:spcAft>
                <a:spcPts val="600"/>
              </a:spcAft>
              <a:buClrTx/>
              <a:buSzTx/>
              <a:buFont typeface="EYInterstate,Sans-Serif" panose="02000503020000020004" pitchFamily="2" charset="0"/>
              <a:buChar char="•"/>
              <a:tabLst/>
              <a:defRPr/>
            </a:pPr>
            <a:r>
              <a:rPr kumimoji="0" lang="en-US" sz="1000" b="0" i="0" u="none" strike="noStrike" kern="0" cap="none" spc="-10" normalizeH="0" baseline="0" noProof="0">
                <a:ln>
                  <a:noFill/>
                </a:ln>
                <a:solidFill>
                  <a:srgbClr val="000000"/>
                </a:solidFill>
                <a:effectLst/>
                <a:uLnTx/>
                <a:uFillTx/>
                <a:latin typeface="EYInterstate Light"/>
                <a:ea typeface="+mn-ea"/>
                <a:cs typeface="+mn-cs"/>
              </a:rPr>
              <a:t>Databases: PostgreSQL, </a:t>
            </a:r>
            <a:r>
              <a:rPr kumimoji="0" lang="en-US" sz="1000" b="0" i="0" u="none" strike="noStrike" kern="0" cap="none" spc="-10" normalizeH="0" baseline="0" noProof="0" err="1">
                <a:ln>
                  <a:noFill/>
                </a:ln>
                <a:solidFill>
                  <a:srgbClr val="000000"/>
                </a:solidFill>
                <a:effectLst/>
                <a:uLnTx/>
                <a:uFillTx/>
                <a:latin typeface="EYInterstate Light"/>
                <a:ea typeface="+mn-ea"/>
                <a:cs typeface="+mn-cs"/>
              </a:rPr>
              <a:t>SQLServer</a:t>
            </a:r>
          </a:p>
          <a:p>
            <a:pPr marL="143510" marR="0" lvl="1" indent="-143510" algn="l" defTabSz="890956" rtl="0" eaLnBrk="1" fontAlgn="auto" latinLnBrk="0" hangingPunct="1">
              <a:lnSpc>
                <a:spcPct val="100000"/>
              </a:lnSpc>
              <a:spcBef>
                <a:spcPts val="0"/>
              </a:spcBef>
              <a:spcAft>
                <a:spcPts val="600"/>
              </a:spcAft>
              <a:buClrTx/>
              <a:buSzTx/>
              <a:buFont typeface="EYInterstate,Sans-Serif" panose="02000503020000020004" pitchFamily="2" charset="0"/>
              <a:buChar char="•"/>
              <a:tabLst/>
              <a:defRPr/>
            </a:pPr>
            <a:r>
              <a:rPr kumimoji="0" lang="en-US" sz="1000" b="0" i="0" u="none" strike="noStrike" kern="0" cap="none" spc="-10" normalizeH="0" baseline="0" noProof="0">
                <a:ln>
                  <a:noFill/>
                </a:ln>
                <a:solidFill>
                  <a:srgbClr val="000000"/>
                </a:solidFill>
                <a:effectLst/>
                <a:uLnTx/>
                <a:uFillTx/>
                <a:latin typeface="EYInterstate Light"/>
                <a:ea typeface="+mn-ea"/>
                <a:cs typeface="+mn-cs"/>
              </a:rPr>
              <a:t>Other Skills : Machine learning, data migration, digitalization , AI Implementation</a:t>
            </a:r>
            <a:endParaRPr kumimoji="0" lang="en-US" sz="1000" b="0" i="0" u="none" strike="noStrike" kern="0" cap="none" spc="-10" normalizeH="0" baseline="0" noProof="0">
              <a:ln>
                <a:noFill/>
              </a:ln>
              <a:solidFill>
                <a:srgbClr val="FFFFFF"/>
              </a:solidFill>
              <a:effectLst/>
              <a:uLnTx/>
              <a:uFillTx/>
              <a:latin typeface="EYInterstate Light"/>
              <a:ea typeface="+mn-ea"/>
              <a:cs typeface="+mn-cs"/>
            </a:endParaRPr>
          </a:p>
          <a:p>
            <a:pPr marL="143510" marR="0" lvl="1" indent="-143510"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endParaRPr kumimoji="0" lang="en-US" sz="950" b="0" i="0" u="none" strike="noStrike" kern="0" cap="none" spc="-10" normalizeH="0" baseline="0" noProof="0">
              <a:ln>
                <a:noFill/>
              </a:ln>
              <a:solidFill>
                <a:srgbClr val="000000"/>
              </a:solidFill>
              <a:effectLst/>
              <a:uLnTx/>
              <a:uFillTx/>
              <a:latin typeface="EYInterstate Light"/>
              <a:ea typeface="+mn-ea"/>
              <a:cs typeface="+mn-cs"/>
            </a:endParaRPr>
          </a:p>
        </p:txBody>
      </p:sp>
      <p:sp>
        <p:nvSpPr>
          <p:cNvPr id="10" name="Rectangle: Top Corners Rounded 26">
            <a:extLst>
              <a:ext uri="{FF2B5EF4-FFF2-40B4-BE49-F238E27FC236}">
                <a16:creationId xmlns:a16="http://schemas.microsoft.com/office/drawing/2014/main" id="{AE471706-CF08-7936-0EED-123BD470E18B}"/>
              </a:ext>
            </a:extLst>
          </p:cNvPr>
          <p:cNvSpPr/>
          <p:nvPr/>
        </p:nvSpPr>
        <p:spPr>
          <a:xfrm rot="5400000">
            <a:off x="3134961" y="2302244"/>
            <a:ext cx="240207"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aphicFrame>
        <p:nvGraphicFramePr>
          <p:cNvPr id="6" name="Table 5">
            <a:extLst>
              <a:ext uri="{FF2B5EF4-FFF2-40B4-BE49-F238E27FC236}">
                <a16:creationId xmlns:a16="http://schemas.microsoft.com/office/drawing/2014/main" id="{5C49C86F-C35B-7FFC-3B8D-9355B021F0B1}"/>
              </a:ext>
            </a:extLst>
          </p:cNvPr>
          <p:cNvGraphicFramePr>
            <a:graphicFrameLocks noGrp="1"/>
          </p:cNvGraphicFramePr>
          <p:nvPr/>
        </p:nvGraphicFramePr>
        <p:xfrm>
          <a:off x="733019" y="3683309"/>
          <a:ext cx="4993241" cy="884555"/>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171826">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225946">
                <a:tc>
                  <a:txBody>
                    <a:bodyPr/>
                    <a:lstStyle/>
                    <a:p>
                      <a:r>
                        <a:rPr lang="en-IN" sz="800" kern="1200">
                          <a:solidFill>
                            <a:schemeClr val="bg1"/>
                          </a:solidFill>
                          <a:latin typeface="+mn-lt"/>
                          <a:ea typeface="+mn-ea"/>
                          <a:cs typeface="+mn-cs"/>
                        </a:rPr>
                        <a:t>2018-2022</a:t>
                      </a:r>
                    </a:p>
                  </a:txBody>
                  <a:tcPr marL="91392" marR="91392" marT="12799" marB="12799" anchor="ctr"/>
                </a:tc>
                <a:tc>
                  <a:txBody>
                    <a:bodyPr/>
                    <a:lstStyle/>
                    <a:p>
                      <a:r>
                        <a:rPr lang="en-IN" sz="800" kern="1200">
                          <a:solidFill>
                            <a:schemeClr val="bg1"/>
                          </a:solidFill>
                          <a:latin typeface="+mn-lt"/>
                          <a:ea typeface="+mn-ea"/>
                          <a:cs typeface="+mn-cs"/>
                        </a:rPr>
                        <a:t>Bachelor of Computer Science(Cum Laude), Universitas Gadjah Mada</a:t>
                      </a:r>
                    </a:p>
                  </a:txBody>
                  <a:tcPr marL="91392" marR="91392" marT="12799" marB="12799" anchor="ctr"/>
                </a:tc>
                <a:extLst>
                  <a:ext uri="{0D108BD9-81ED-4DB2-BD59-A6C34878D82A}">
                    <a16:rowId xmlns:a16="http://schemas.microsoft.com/office/drawing/2014/main" val="2625900844"/>
                  </a:ext>
                </a:extLst>
              </a:tr>
              <a:tr h="225946">
                <a:tc>
                  <a:txBody>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lang="en-IN" sz="800" kern="1200">
                          <a:solidFill>
                            <a:schemeClr val="bg1"/>
                          </a:solidFill>
                          <a:latin typeface="+mn-lt"/>
                          <a:ea typeface="+mn-ea"/>
                          <a:cs typeface="+mn-cs"/>
                        </a:rPr>
                        <a:t>2020-2022</a:t>
                      </a:r>
                    </a:p>
                  </a:txBody>
                  <a:tcPr marL="91392" marR="91392" marT="12799" marB="12799" anchor="ctr"/>
                </a:tc>
                <a:tc>
                  <a:txBody>
                    <a:bodyPr/>
                    <a:lstStyle/>
                    <a:p>
                      <a:pPr marL="0" marR="0" lvl="0" indent="0" algn="l" rtl="0" eaLnBrk="1" fontAlgn="auto" latinLnBrk="0" hangingPunct="1">
                        <a:lnSpc>
                          <a:spcPct val="100000"/>
                        </a:lnSpc>
                        <a:spcBef>
                          <a:spcPts val="0"/>
                        </a:spcBef>
                        <a:spcAft>
                          <a:spcPts val="0"/>
                        </a:spcAft>
                        <a:buClrTx/>
                        <a:buSzTx/>
                        <a:buFontTx/>
                        <a:buNone/>
                      </a:pPr>
                      <a:r>
                        <a:rPr lang="en-IN" sz="800" kern="1200">
                          <a:solidFill>
                            <a:schemeClr val="bg1"/>
                          </a:solidFill>
                          <a:latin typeface="+mn-lt"/>
                          <a:ea typeface="+mn-ea"/>
                          <a:cs typeface="+mn-cs"/>
                        </a:rPr>
                        <a:t>Bachelor of Computer Science, University of Birmingham</a:t>
                      </a:r>
                    </a:p>
                  </a:txBody>
                  <a:tcPr marL="91392" marR="91392" marT="12799" marB="12799" anchor="ctr"/>
                </a:tc>
                <a:extLst>
                  <a:ext uri="{0D108BD9-81ED-4DB2-BD59-A6C34878D82A}">
                    <a16:rowId xmlns:a16="http://schemas.microsoft.com/office/drawing/2014/main" val="2160126882"/>
                  </a:ext>
                </a:extLst>
              </a:tr>
              <a:tr h="238757">
                <a:tc>
                  <a:txBody>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lang="en-IN" sz="800" kern="1200">
                          <a:solidFill>
                            <a:schemeClr val="bg1"/>
                          </a:solidFill>
                          <a:latin typeface="+mn-lt"/>
                          <a:ea typeface="+mn-ea"/>
                          <a:cs typeface="+mn-cs"/>
                        </a:rPr>
                        <a:t>2017-2018</a:t>
                      </a:r>
                    </a:p>
                  </a:txBody>
                  <a:tcPr marL="91392" marR="91392" marT="12799" marB="12799" anchor="ctr"/>
                </a:tc>
                <a:tc>
                  <a:txBody>
                    <a:bodyPr/>
                    <a:lstStyle/>
                    <a:p>
                      <a:r>
                        <a:rPr lang="en-IN" sz="800" kern="1200">
                          <a:solidFill>
                            <a:schemeClr val="bg1"/>
                          </a:solidFill>
                          <a:latin typeface="+mn-lt"/>
                          <a:ea typeface="+mn-ea"/>
                          <a:cs typeface="+mn-cs"/>
                        </a:rPr>
                        <a:t>Business Analytics , National University of Singapore</a:t>
                      </a:r>
                    </a:p>
                  </a:txBody>
                  <a:tcPr marL="91392" marR="91392" marT="12799" marB="12799" anchor="ctr"/>
                </a:tc>
                <a:extLst>
                  <a:ext uri="{0D108BD9-81ED-4DB2-BD59-A6C34878D82A}">
                    <a16:rowId xmlns:a16="http://schemas.microsoft.com/office/drawing/2014/main" val="54721795"/>
                  </a:ext>
                </a:extLst>
              </a:tr>
            </a:tbl>
          </a:graphicData>
        </a:graphic>
      </p:graphicFrame>
      <p:sp>
        <p:nvSpPr>
          <p:cNvPr id="14" name="Rectangle 13">
            <a:extLst>
              <a:ext uri="{FF2B5EF4-FFF2-40B4-BE49-F238E27FC236}">
                <a16:creationId xmlns:a16="http://schemas.microsoft.com/office/drawing/2014/main" id="{09D91940-C11A-F957-BF0B-0D937742E30B}"/>
              </a:ext>
            </a:extLst>
          </p:cNvPr>
          <p:cNvSpPr>
            <a:spLocks noChangeArrowheads="1"/>
          </p:cNvSpPr>
          <p:nvPr/>
        </p:nvSpPr>
        <p:spPr bwMode="auto">
          <a:xfrm>
            <a:off x="612578" y="1991915"/>
            <a:ext cx="5322454" cy="839911"/>
          </a:xfrm>
          <a:prstGeom prst="rect">
            <a:avLst/>
          </a:prstGeom>
          <a:noFill/>
          <a:ln>
            <a:noFill/>
          </a:ln>
        </p:spPr>
        <p:txBody>
          <a:bodyPr wrap="square" lIns="107888" tIns="71926" rIns="107888" bIns="35962" anchor="t">
            <a:spAutoFit/>
          </a:bodyPr>
          <a:lstStyle/>
          <a:p>
            <a:pPr marL="0" marR="0" lvl="1" indent="0" algn="l" defTabSz="890956" rtl="0" eaLnBrk="1" fontAlgn="auto" latinLnBrk="0" hangingPunct="1">
              <a:lnSpc>
                <a:spcPct val="100000"/>
              </a:lnSpc>
              <a:spcBef>
                <a:spcPts val="0"/>
              </a:spcBef>
              <a:spcAft>
                <a:spcPts val="600"/>
              </a:spcAft>
              <a:buClrTx/>
              <a:buSzTx/>
              <a:buFontTx/>
              <a:buNone/>
              <a:tabLst/>
              <a:defRPr/>
            </a:pPr>
            <a:r>
              <a:rPr kumimoji="0" lang="en-US" sz="950" b="0" i="0" u="none" strike="noStrike" kern="0" cap="none" spc="-10" normalizeH="0" baseline="0" noProof="0">
                <a:ln>
                  <a:noFill/>
                </a:ln>
                <a:solidFill>
                  <a:srgbClr val="000000"/>
                </a:solidFill>
                <a:effectLst/>
                <a:uLnTx/>
                <a:uFillTx/>
                <a:latin typeface="EYInterstate Light"/>
                <a:ea typeface="+mn-lt"/>
                <a:cs typeface="+mn-lt"/>
              </a:rPr>
              <a:t>Grayson is an Associate in the Data and AI division at EY, with over two years of consulting experience across multiple domains, including data migration and ERP systems. He has contributed to several projects, such as designing and implementing ERP systems for organizations in the oil and gas and industrial sectors, developing AI-driven solutions for contract management, and managing data migration and modernization programs for a taxation agency. His core skill set focuses on data engineering and machine learning.</a:t>
            </a:r>
            <a:endParaRPr kumimoji="0" lang="en-US" sz="950" b="0" i="0" u="none" strike="noStrike" kern="1200" cap="none" spc="0" normalizeH="0" baseline="0" noProof="0">
              <a:ln>
                <a:noFill/>
              </a:ln>
              <a:solidFill>
                <a:srgbClr val="FFFFFF"/>
              </a:solidFill>
              <a:effectLst/>
              <a:uLnTx/>
              <a:uFillTx/>
              <a:latin typeface="EYInterstate Light"/>
              <a:ea typeface="+mn-ea"/>
              <a:cs typeface="+mn-cs"/>
            </a:endParaRPr>
          </a:p>
        </p:txBody>
      </p:sp>
      <p:sp>
        <p:nvSpPr>
          <p:cNvPr id="7" name="TextBox 6">
            <a:extLst>
              <a:ext uri="{FF2B5EF4-FFF2-40B4-BE49-F238E27FC236}">
                <a16:creationId xmlns:a16="http://schemas.microsoft.com/office/drawing/2014/main" id="{B3EE15C6-85DB-D8C0-AC09-7B548F824635}"/>
              </a:ext>
            </a:extLst>
          </p:cNvPr>
          <p:cNvSpPr txBox="1"/>
          <p:nvPr/>
        </p:nvSpPr>
        <p:spPr>
          <a:xfrm>
            <a:off x="3048000" y="3429000"/>
            <a:ext cx="6096000" cy="642227"/>
          </a:xfrm>
          <a:prstGeom prst="rect">
            <a:avLst/>
          </a:prstGeom>
          <a:noFill/>
        </p:spPr>
        <p:txBody>
          <a:bodyPr rot="0" spcFirstLastPara="0" vertOverflow="overflow" horzOverflow="overflow" vert="horz" wrap="square" lIns="0" tIns="36576"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EYInterstate Light"/>
                <a:ea typeface="EYInterstate Light"/>
                <a:cs typeface="EYInterstate Light"/>
              </a:rPr>
              <a:t>​</a:t>
            </a:r>
            <a:endParaRPr kumimoji="0" lang="en-US" sz="1800" b="0" i="0" u="none" strike="noStrike" kern="1200" cap="none" spc="0" normalizeH="0" baseline="0" noProof="0">
              <a:ln>
                <a:noFill/>
              </a:ln>
              <a:solidFill>
                <a:srgbClr val="FFFFFF"/>
              </a:solidFill>
              <a:effectLst/>
              <a:uLnTx/>
              <a:uFillTx/>
              <a:latin typeface="EYInterstate Light"/>
              <a:ea typeface="+mn-ea"/>
              <a:cs typeface="+mn-cs"/>
            </a:endParaRPr>
          </a:p>
          <a:p>
            <a:pPr marL="252000" marR="0" lvl="0" indent="-252000" algn="l" defTabSz="914400" rtl="0" eaLnBrk="1" fontAlgn="auto" latinLnBrk="0" hangingPunct="1">
              <a:lnSpc>
                <a:spcPct val="90000"/>
              </a:lnSpc>
              <a:spcBef>
                <a:spcPts val="400"/>
              </a:spcBef>
              <a:spcAft>
                <a:spcPts val="400"/>
              </a:spcAft>
              <a:buClr>
                <a:srgbClr val="FFE600"/>
              </a:buClr>
              <a:buSzPct val="100000"/>
              <a:buFont typeface="Wingdings" pitchFamily="2" charset="2"/>
              <a:buChar char="§"/>
              <a:tabLst/>
              <a:defRPr/>
            </a:pPr>
            <a:endParaRPr kumimoji="0" lang="en-US" sz="2000" b="0" i="0" u="none" strike="noStrike" kern="1200" cap="none" spc="0" normalizeH="0" baseline="0" noProof="0" err="1">
              <a:ln>
                <a:noFill/>
              </a:ln>
              <a:solidFill>
                <a:srgbClr val="1A1A24"/>
              </a:solidFill>
              <a:effectLst/>
              <a:uLnTx/>
              <a:uFillTx/>
              <a:latin typeface="EYInterstate Light"/>
              <a:ea typeface="+mn-ea"/>
              <a:cs typeface="+mn-cs"/>
            </a:endParaRPr>
          </a:p>
        </p:txBody>
      </p:sp>
      <p:sp>
        <p:nvSpPr>
          <p:cNvPr id="15" name="Rectangle 14">
            <a:extLst>
              <a:ext uri="{FF2B5EF4-FFF2-40B4-BE49-F238E27FC236}">
                <a16:creationId xmlns:a16="http://schemas.microsoft.com/office/drawing/2014/main" id="{0A46F89F-2DEE-E5D7-7B4D-0F15743377AA}"/>
              </a:ext>
            </a:extLst>
          </p:cNvPr>
          <p:cNvSpPr>
            <a:spLocks noChangeArrowheads="1"/>
          </p:cNvSpPr>
          <p:nvPr/>
        </p:nvSpPr>
        <p:spPr bwMode="auto">
          <a:xfrm>
            <a:off x="6238304" y="1996570"/>
            <a:ext cx="5351644" cy="3432872"/>
          </a:xfrm>
          <a:prstGeom prst="rect">
            <a:avLst/>
          </a:prstGeom>
          <a:noFill/>
          <a:ln>
            <a:noFill/>
          </a:ln>
        </p:spPr>
        <p:txBody>
          <a:bodyPr wrap="square" lIns="53916" tIns="53916" rIns="53916" bIns="53916" anchor="t">
            <a:spAutoFit/>
          </a:bodyPr>
          <a:lstStyle/>
          <a:p>
            <a:pPr marL="143510" marR="0" lvl="1" indent="-143510" algn="l" defTabSz="890511" rtl="0" eaLnBrk="1" fontAlgn="auto" latinLnBrk="0" hangingPunct="1">
              <a:lnSpc>
                <a:spcPct val="100000"/>
              </a:lnSpc>
              <a:spcBef>
                <a:spcPts val="0"/>
              </a:spcBef>
              <a:spcAft>
                <a:spcPts val="200"/>
              </a:spcAft>
              <a:buClrTx/>
              <a:buSzPct val="100000"/>
              <a:buFont typeface="EYInterstate" panose="02000503020000020004" pitchFamily="2" charset="0"/>
              <a:buChar char="•"/>
              <a:tabLst/>
              <a:defRPr/>
            </a:pPr>
            <a:r>
              <a:rPr kumimoji="0" lang="en-US" sz="950" b="1" i="0" u="none" strike="noStrike" kern="0" cap="none" spc="-10" normalizeH="0" baseline="0" noProof="0">
                <a:ln>
                  <a:noFill/>
                </a:ln>
                <a:solidFill>
                  <a:srgbClr val="000000"/>
                </a:solidFill>
                <a:effectLst/>
                <a:uLnTx/>
                <a:uFillTx/>
                <a:latin typeface="EYInterstate Light"/>
                <a:ea typeface="+mn-ea"/>
                <a:cs typeface="+mn-cs"/>
              </a:rPr>
              <a:t>ASSOCIATE – AI &amp; DATA | ERNST &amp; YOUNG, SINGAPORE (Nov 25 – present)</a:t>
            </a:r>
            <a:endParaRPr kumimoji="0" lang="en-US" sz="1800" b="0" i="0" u="none" strike="noStrike" kern="1200" cap="none" spc="0" normalizeH="0" baseline="0" noProof="0">
              <a:ln>
                <a:noFill/>
              </a:ln>
              <a:solidFill>
                <a:srgbClr val="FFFFFF"/>
              </a:solidFill>
              <a:effectLst/>
              <a:uLnTx/>
              <a:uFillTx/>
              <a:latin typeface="EYInterstate Light"/>
              <a:ea typeface="+mn-lt"/>
              <a:cs typeface="+mn-lt"/>
            </a:endParaRPr>
          </a:p>
          <a:p>
            <a:pPr marL="600710" marR="0" lvl="0" indent="-143510" algn="l" defTabSz="890511" rtl="0" eaLnBrk="1" fontAlgn="auto" latinLnBrk="0" hangingPunct="1">
              <a:lnSpc>
                <a:spcPct val="100000"/>
              </a:lnSpc>
              <a:spcBef>
                <a:spcPts val="0"/>
              </a:spcBef>
              <a:spcAft>
                <a:spcPts val="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lt"/>
                <a:cs typeface="+mn-lt"/>
              </a:rPr>
              <a:t>Successfully migrated user scripts and environments to a modern Azure platform.</a:t>
            </a:r>
            <a:endParaRPr kumimoji="0" lang="en-US" sz="1800" b="0" i="0" u="none" strike="noStrike" kern="1200" cap="none" spc="0" normalizeH="0" baseline="0" noProof="0">
              <a:ln>
                <a:noFill/>
              </a:ln>
              <a:solidFill>
                <a:srgbClr val="FFFFFF"/>
              </a:solidFill>
              <a:effectLst/>
              <a:uLnTx/>
              <a:uFillTx/>
              <a:latin typeface="EYInterstate Light"/>
              <a:ea typeface="+mn-lt"/>
              <a:cs typeface="+mn-lt"/>
            </a:endParaRPr>
          </a:p>
          <a:p>
            <a:pPr marL="600710" marR="0" lvl="2" indent="-143510" algn="l" defTabSz="890511" rtl="0" eaLnBrk="1" fontAlgn="auto" latinLnBrk="0" hangingPunct="1">
              <a:lnSpc>
                <a:spcPct val="100000"/>
              </a:lnSpc>
              <a:spcBef>
                <a:spcPts val="0"/>
              </a:spcBef>
              <a:spcAft>
                <a:spcPts val="2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lt"/>
                <a:cs typeface="+mn-lt"/>
              </a:rPr>
              <a:t>Transformed and optimized various ETL scripts from SAS, Python, and DataStage into efficient, user-ready </a:t>
            </a:r>
            <a:r>
              <a:rPr kumimoji="0" lang="en-US" sz="950" b="0" i="0" u="none" strike="noStrike" kern="0" cap="none" spc="-10" normalizeH="0" baseline="0" noProof="0" err="1">
                <a:ln>
                  <a:noFill/>
                </a:ln>
                <a:solidFill>
                  <a:srgbClr val="000000"/>
                </a:solidFill>
                <a:effectLst/>
                <a:uLnTx/>
                <a:uFillTx/>
                <a:latin typeface="EYInterstate Light"/>
                <a:ea typeface="+mn-lt"/>
                <a:cs typeface="+mn-lt"/>
              </a:rPr>
              <a:t>PySpark</a:t>
            </a:r>
            <a:r>
              <a:rPr kumimoji="0" lang="en-US" sz="950" b="0" i="0" u="none" strike="noStrike" kern="0" cap="none" spc="-10" normalizeH="0" baseline="0" noProof="0">
                <a:ln>
                  <a:noFill/>
                </a:ln>
                <a:solidFill>
                  <a:srgbClr val="000000"/>
                </a:solidFill>
                <a:effectLst/>
                <a:uLnTx/>
                <a:uFillTx/>
                <a:latin typeface="EYInterstate Light"/>
                <a:ea typeface="+mn-lt"/>
                <a:cs typeface="+mn-lt"/>
              </a:rPr>
              <a:t> solutions, aligning with user requirements.</a:t>
            </a:r>
            <a:endParaRPr kumimoji="0" lang="en-US" sz="1800" b="0" i="0" u="none" strike="noStrike" kern="1200" cap="none" spc="0" normalizeH="0" baseline="0" noProof="0">
              <a:ln>
                <a:noFill/>
              </a:ln>
              <a:solidFill>
                <a:srgbClr val="FFFFFF"/>
              </a:solidFill>
              <a:effectLst/>
              <a:uLnTx/>
              <a:uFillTx/>
              <a:latin typeface="EYInterstate Light"/>
              <a:ea typeface="+mn-ea"/>
              <a:cs typeface="+mn-cs"/>
            </a:endParaRPr>
          </a:p>
          <a:p>
            <a:pPr marL="143510" marR="0" lvl="1" indent="-143510" algn="l" defTabSz="890511" rtl="0" eaLnBrk="1" fontAlgn="auto" latinLnBrk="0" hangingPunct="1">
              <a:lnSpc>
                <a:spcPct val="100000"/>
              </a:lnSpc>
              <a:spcBef>
                <a:spcPts val="600"/>
              </a:spcBef>
              <a:spcAft>
                <a:spcPts val="200"/>
              </a:spcAft>
              <a:buClrTx/>
              <a:buSzPct val="100000"/>
              <a:buFont typeface="EYInterstate" panose="02000503020000020004" pitchFamily="2" charset="0"/>
              <a:buChar char="•"/>
              <a:tabLst/>
              <a:defRPr/>
            </a:pPr>
            <a:r>
              <a:rPr kumimoji="0" lang="en-US" sz="950" b="1" i="0" u="none" strike="noStrike" kern="0" cap="none" spc="-10" normalizeH="0" baseline="0" noProof="0">
                <a:ln>
                  <a:noFill/>
                </a:ln>
                <a:solidFill>
                  <a:srgbClr val="000000"/>
                </a:solidFill>
                <a:effectLst/>
                <a:uLnTx/>
                <a:uFillTx/>
                <a:latin typeface="EYInterstate Light"/>
                <a:ea typeface="+mn-ea"/>
                <a:cs typeface="+mn-cs"/>
              </a:rPr>
              <a:t>DATA ENGINEER INTERN </a:t>
            </a:r>
            <a:r>
              <a:rPr kumimoji="0" lang="en-US" sz="1000" b="1" i="0" u="none" strike="noStrike" kern="0" cap="none" spc="-10" normalizeH="0" baseline="0" noProof="0">
                <a:ln>
                  <a:noFill/>
                </a:ln>
                <a:solidFill>
                  <a:srgbClr val="000000"/>
                </a:solidFill>
                <a:effectLst/>
                <a:uLnTx/>
                <a:uFillTx/>
                <a:latin typeface="EYInterstate Light"/>
                <a:ea typeface="+mn-ea"/>
                <a:cs typeface="+mn-cs"/>
              </a:rPr>
              <a:t>– AI &amp; DATA | ERNST &amp; YOUNG, SINGAPORE </a:t>
            </a:r>
            <a:r>
              <a:rPr kumimoji="0" lang="en-US" sz="950" b="1" i="0" u="none" strike="noStrike" kern="0" cap="none" spc="-10" normalizeH="0" baseline="0" noProof="0">
                <a:ln>
                  <a:noFill/>
                </a:ln>
                <a:solidFill>
                  <a:srgbClr val="000000"/>
                </a:solidFill>
                <a:effectLst/>
                <a:uLnTx/>
                <a:uFillTx/>
                <a:latin typeface="EYInterstate Light"/>
                <a:ea typeface="+mn-ea"/>
                <a:cs typeface="+mn-cs"/>
              </a:rPr>
              <a:t>(Sep 24 – Oct 25)</a:t>
            </a:r>
          </a:p>
          <a:p>
            <a:pPr marL="600710" marR="0" lvl="0" indent="-143510" algn="l" defTabSz="890511" rtl="0" eaLnBrk="1" fontAlgn="auto" latinLnBrk="0" hangingPunct="1">
              <a:lnSpc>
                <a:spcPct val="100000"/>
              </a:lnSpc>
              <a:spcBef>
                <a:spcPts val="0"/>
              </a:spcBef>
              <a:spcAft>
                <a:spcPts val="2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Optimized on going production ETL process, reducing their processing time by 60% and reduced manhour needed for maintenance</a:t>
            </a:r>
          </a:p>
          <a:p>
            <a:pPr marL="600710" marR="0" lvl="2" indent="-143510" algn="l" defTabSz="890511" rtl="0" eaLnBrk="1" fontAlgn="auto" latinLnBrk="0" hangingPunct="1">
              <a:lnSpc>
                <a:spcPct val="100000"/>
              </a:lnSpc>
              <a:spcBef>
                <a:spcPts val="0"/>
              </a:spcBef>
              <a:spcAft>
                <a:spcPts val="2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Operated and maintained on going production pipeline following the data needs with close coordination with the users</a:t>
            </a:r>
            <a:endParaRPr kumimoji="0" lang="en-US" sz="1800" b="0" i="0" u="none" strike="noStrike" kern="1200" cap="none" spc="0" normalizeH="0" baseline="0" noProof="0">
              <a:ln>
                <a:noFill/>
              </a:ln>
              <a:solidFill>
                <a:srgbClr val="FFFFFF"/>
              </a:solidFill>
              <a:effectLst/>
              <a:uLnTx/>
              <a:uFillTx/>
              <a:latin typeface="EYInterstate Light"/>
              <a:ea typeface="+mn-ea"/>
              <a:cs typeface="+mn-cs"/>
            </a:endParaRPr>
          </a:p>
          <a:p>
            <a:pPr marL="143510" marR="0" lvl="1" indent="-143510" algn="l" defTabSz="890511" rtl="0" eaLnBrk="1" fontAlgn="auto" latinLnBrk="0" hangingPunct="1">
              <a:lnSpc>
                <a:spcPct val="100000"/>
              </a:lnSpc>
              <a:spcBef>
                <a:spcPts val="600"/>
              </a:spcBef>
              <a:spcAft>
                <a:spcPts val="2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ERP TECHNICAL CONSULTANT- PT METRODATA ELECTRONICS , Jakart</a:t>
            </a:r>
            <a:r>
              <a:rPr kumimoji="0" lang="en-US" sz="950" b="1" i="0" u="none" strike="noStrike" kern="0" cap="none" spc="-10" normalizeH="0" baseline="0" noProof="0">
                <a:ln>
                  <a:noFill/>
                </a:ln>
                <a:solidFill>
                  <a:srgbClr val="000000"/>
                </a:solidFill>
                <a:effectLst/>
                <a:uLnTx/>
                <a:uFillTx/>
                <a:latin typeface="EYInterstate Light"/>
                <a:ea typeface="+mn-ea"/>
                <a:cs typeface="+mn-cs"/>
              </a:rPr>
              <a:t>a (Sept 22-Jul 24)</a:t>
            </a:r>
          </a:p>
          <a:p>
            <a:pPr marL="600710" marR="0" lvl="0" indent="-143510" algn="l" defTabSz="890511" rtl="0" eaLnBrk="1" fontAlgn="auto" latinLnBrk="0" hangingPunct="1">
              <a:lnSpc>
                <a:spcPct val="100000"/>
              </a:lnSpc>
              <a:spcBef>
                <a:spcPts val="0"/>
              </a:spcBef>
              <a:spcAft>
                <a:spcPts val="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Led the technical development of a budgeting ERP system for a major Oil and Gas corporation, utilizing Anaplan, SQL, and Power BI within an interconnected pipeline.</a:t>
            </a:r>
          </a:p>
          <a:p>
            <a:pPr marL="600710" marR="0" lvl="2" indent="-143510" algn="l" defTabSz="890511" rtl="0" eaLnBrk="1" fontAlgn="auto" latinLnBrk="0" hangingPunct="1">
              <a:lnSpc>
                <a:spcPct val="100000"/>
              </a:lnSpc>
              <a:spcBef>
                <a:spcPts val="0"/>
              </a:spcBef>
              <a:spcAft>
                <a:spcPts val="2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Designed and implemented an Anaplan ERP pipeline for a leading fertilizer company, enhancing financial planning capabilities.</a:t>
            </a:r>
            <a:endParaRPr kumimoji="0" lang="en-US" sz="1800" b="0" i="0" u="none" strike="noStrike" kern="1200" cap="none" spc="0" normalizeH="0" baseline="0" noProof="0">
              <a:ln>
                <a:noFill/>
              </a:ln>
              <a:solidFill>
                <a:srgbClr val="FFFFFF"/>
              </a:solidFill>
              <a:effectLst/>
              <a:uLnTx/>
              <a:uFillTx/>
              <a:latin typeface="EYInterstate Light"/>
              <a:ea typeface="+mn-ea"/>
              <a:cs typeface="+mn-cs"/>
            </a:endParaRPr>
          </a:p>
          <a:p>
            <a:pPr marL="143510" marR="0" lvl="1" indent="-143510" algn="l" defTabSz="890511" rtl="0" eaLnBrk="1" fontAlgn="auto" latinLnBrk="0" hangingPunct="1">
              <a:lnSpc>
                <a:spcPct val="100000"/>
              </a:lnSpc>
              <a:spcBef>
                <a:spcPts val="600"/>
              </a:spcBef>
              <a:spcAft>
                <a:spcPts val="2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AI TECHNICAL CONSULTANT- PT METRODATA ELECTRONICS , Jakart</a:t>
            </a:r>
            <a:r>
              <a:rPr kumimoji="0" lang="en-US" sz="950" b="1" i="0" u="none" strike="noStrike" kern="0" cap="none" spc="-10" normalizeH="0" baseline="0" noProof="0">
                <a:ln>
                  <a:noFill/>
                </a:ln>
                <a:solidFill>
                  <a:srgbClr val="000000"/>
                </a:solidFill>
                <a:effectLst/>
                <a:uLnTx/>
                <a:uFillTx/>
                <a:latin typeface="EYInterstate Light"/>
                <a:ea typeface="+mn-ea"/>
                <a:cs typeface="+mn-cs"/>
              </a:rPr>
              <a:t>a (Sept 22-Jul 24)</a:t>
            </a:r>
            <a:endParaRPr kumimoji="0" lang="en-US" sz="1800" b="0" i="0" u="none" strike="noStrike" kern="1200" cap="none" spc="0" normalizeH="0" baseline="0" noProof="0">
              <a:ln>
                <a:noFill/>
              </a:ln>
              <a:solidFill>
                <a:srgbClr val="FFFFFF"/>
              </a:solidFill>
              <a:effectLst/>
              <a:uLnTx/>
              <a:uFillTx/>
              <a:latin typeface="EYInterstate Light"/>
              <a:ea typeface="+mn-ea"/>
              <a:cs typeface="+mn-cs"/>
            </a:endParaRPr>
          </a:p>
          <a:p>
            <a:pPr marL="600710" marR="0" lvl="2" indent="-143510" algn="l" defTabSz="890511" rtl="0" eaLnBrk="1" fontAlgn="auto" latinLnBrk="0" hangingPunct="1">
              <a:lnSpc>
                <a:spcPct val="100000"/>
              </a:lnSpc>
              <a:spcBef>
                <a:spcPts val="600"/>
              </a:spcBef>
              <a:spcAft>
                <a:spcPts val="200"/>
              </a:spcAft>
              <a:buClrTx/>
              <a:buSzPct val="100000"/>
              <a:buFont typeface="EYInterstate" panose="02000503020000020004" pitchFamily="2" charset="0"/>
              <a:buChar char="•"/>
              <a:tabLst/>
              <a:defRPr/>
            </a:pPr>
            <a:r>
              <a:rPr kumimoji="0" lang="en-US" sz="950" b="0" i="0" u="none" strike="noStrike" kern="0" cap="none" spc="-10" normalizeH="0" baseline="0" noProof="0">
                <a:ln>
                  <a:noFill/>
                </a:ln>
                <a:solidFill>
                  <a:srgbClr val="000000"/>
                </a:solidFill>
                <a:effectLst/>
                <a:uLnTx/>
                <a:uFillTx/>
                <a:latin typeface="EYInterstate Light"/>
                <a:ea typeface="+mn-ea"/>
                <a:cs typeface="+mn-cs"/>
              </a:rPr>
              <a:t>Developed </a:t>
            </a:r>
            <a:r>
              <a:rPr kumimoji="0" lang="en-US" sz="950" b="0" i="0" u="none" strike="noStrike" kern="0" cap="none" spc="-10" normalizeH="0" baseline="0" noProof="0">
                <a:ln>
                  <a:noFill/>
                </a:ln>
                <a:solidFill>
                  <a:srgbClr val="000000"/>
                </a:solidFill>
                <a:effectLst/>
                <a:uLnTx/>
                <a:uFillTx/>
                <a:latin typeface="EYInterstate Light"/>
                <a:ea typeface="+mn-lt"/>
                <a:cs typeface="+mn-lt"/>
              </a:rPr>
              <a:t>an automated contract summarization and categorization tool utilizing NLP, Scikit-learn, and machine learning techniques, resulting in significant time savings for the legal team, reducing weekly workload by dozens of hours.</a:t>
            </a:r>
            <a:endParaRPr kumimoji="0" lang="en-US" sz="1800" b="0" i="0" u="none" strike="noStrike" kern="1200" cap="none" spc="0" normalizeH="0" baseline="0" noProof="0">
              <a:ln>
                <a:noFill/>
              </a:ln>
              <a:solidFill>
                <a:srgbClr val="FFFFFF"/>
              </a:solidFill>
              <a:effectLst/>
              <a:uLnTx/>
              <a:uFillTx/>
              <a:latin typeface="EYInterstate Light"/>
              <a:ea typeface="+mn-ea"/>
              <a:cs typeface="+mn-cs"/>
            </a:endParaRPr>
          </a:p>
          <a:p>
            <a:pPr marL="914400" marR="0" lvl="2" indent="0" algn="l" defTabSz="890511" rtl="0" eaLnBrk="1" fontAlgn="auto" latinLnBrk="0" hangingPunct="1">
              <a:lnSpc>
                <a:spcPct val="100000"/>
              </a:lnSpc>
              <a:spcBef>
                <a:spcPts val="0"/>
              </a:spcBef>
              <a:spcAft>
                <a:spcPts val="200"/>
              </a:spcAft>
              <a:buClrTx/>
              <a:buSzTx/>
              <a:buFontTx/>
              <a:buNone/>
              <a:tabLst/>
              <a:defRPr/>
            </a:pPr>
            <a:endParaRPr kumimoji="0" lang="en-US" sz="950" b="0" i="0" u="none" strike="noStrike" kern="0" cap="none" spc="-10" normalizeH="0" baseline="0" noProof="0">
              <a:ln>
                <a:noFill/>
              </a:ln>
              <a:solidFill>
                <a:srgbClr val="000000"/>
              </a:solidFill>
              <a:effectLst/>
              <a:uLnTx/>
              <a:uFillTx/>
              <a:latin typeface="EYInterstate Light"/>
              <a:ea typeface="+mn-ea"/>
              <a:cs typeface="+mn-cs"/>
            </a:endParaRPr>
          </a:p>
        </p:txBody>
      </p:sp>
    </p:spTree>
    <p:extLst>
      <p:ext uri="{BB962C8B-B14F-4D97-AF65-F5344CB8AC3E}">
        <p14:creationId xmlns:p14="http://schemas.microsoft.com/office/powerpoint/2010/main" val="15255476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Main Master Slide for IRAS">
  <a:themeElements>
    <a:clrScheme name="Custom 86">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Presentation7" id="{74771858-A977-49C2-9E64-CE01AF1A8B8F}" vid="{24E9EE1E-161F-4A7E-8A2A-9B9DE38CAC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955</Words>
  <Application>Microsoft Office PowerPoint</Application>
  <PresentationFormat>Widescreen</PresentationFormat>
  <Paragraphs>94</Paragraphs>
  <Slides>3</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vt:i4>
      </vt:variant>
    </vt:vector>
  </HeadingPairs>
  <TitlesOfParts>
    <vt:vector size="13" baseType="lpstr">
      <vt:lpstr>Aptos</vt:lpstr>
      <vt:lpstr>Arial</vt:lpstr>
      <vt:lpstr>EYInterstate</vt:lpstr>
      <vt:lpstr>EYInterstate Light</vt:lpstr>
      <vt:lpstr>EYInterstate Regular</vt:lpstr>
      <vt:lpstr>EYInterstate,Sans-Serif</vt:lpstr>
      <vt:lpstr>Segoe UI</vt:lpstr>
      <vt:lpstr>Wingdings</vt:lpstr>
      <vt:lpstr>2_Main Master Slide for IRAS</vt:lpstr>
      <vt:lpstr>think-cell Slide</vt:lpstr>
      <vt:lpstr>PowerPoint Presentation</vt:lpstr>
      <vt:lpstr>PowerPoint Presentation</vt:lpstr>
      <vt:lpstr>PowerPoint Presentation</vt:lpstr>
    </vt:vector>
  </TitlesOfParts>
  <Company>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Grayson Sutedjo</dc:creator>
  <cp:lastModifiedBy>Grayson Sutedjo</cp:lastModifiedBy>
  <cp:revision>1</cp:revision>
  <dcterms:created xsi:type="dcterms:W3CDTF">2026-09-16T03:37:39Z</dcterms:created>
  <dcterms:modified xsi:type="dcterms:W3CDTF">2026-09-16T03:37:57Z</dcterms:modified>
</cp:coreProperties>
</file>